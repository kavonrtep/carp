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fied annotation" id="{dda19ad6-febb-090e-becd-a4a45d86a3de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one evidence layer, ordered by how much we trust it. Structure-based calls (complete elements, protein domains) come first, then tandem arrays, then similarity searches, then TideHunter leftovers.
Faded parts are what a higher tier already claimed; only the solid parts reach the unified annotation.
Example: RepeatMasker hits the complete LTR-RT too (its consensus came from it), but that span is already claimed. The degraded copy is seen only by RepeatMasker plus one surviving RT domain: the domain keeps its span, RepeatMasker the flanks. Simple repeats are the exception: inside an element they become nested Level-2 children.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DANTE_LTR emits each complete copy. When same-lineage copies sit head-to-tail sharing an LTR (LTR-INT-LTR-INT-LTR), the copies overlap on that LTR. resolve_ltr_tandems.py collapses the chain into one container spanning the array; the copies are kept as nested Level-2 children, so nothing is lost and nothing is double-counted. A nested insertion overlaps deeply but its LTRs do not line up, so it is not merged.
In the unified GFF3:
Level 1 container
  source  DANTE_LTR
  structure=LTR_RT_TR
  copy_number=2
Level 2, one per copy
  in_structure=LTR_RT_TR
  member_of=&lt;container ID&gt;
  Parent=&lt;container ID&gt;
Density tracks
  LTR_RT_TR also gets its own roll-up BigWig.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case where a satellite outranks a tier-1 structural call. Two tests must pass: the array covers several complete TEs of one family, and their DANTE domains recur with the array's tandem period (the domain-rhythm gate). Domains are used because they survive decay of the element, so a degraded tandem still passes.
TE_origin records the shared lineage of the covered TEs. TE_origin_structure=tandem_LTR_RT is added when the array also overlaps an LTR_RT_TR container (copies of complete LTR-RTs sharing LTRs). A satellite built from only part of an element, e.g. an LTR fragment, never triggers this rule and stays a plain satellite.
In the unified GFF3:
Level 1 satellite
  source  TideCluster_default
  Name=TRC_&lt;n&gt;
  TE_origin=
  Class_I/LTR/Ty3_gypsy/…
  TE_origin_structure=
  tandem_LTR_RT
Required
  ≥2 complete same-family TEs under the array, and their domains recurring with the tandem period.
Also written to
  …te_derived_trc.csv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contrast to the previous slide. The array contains a complete element, but its domains appear only once, not with the tandem period, so it is an insertion. Normal tier priority applies: the element keeps its span and the satellite keeps the rest, as two pieces that both carry the same TRC name.
In the unified GFF3:
Level 1, three features
  TideCluster  Name=TRC_&lt;n&gt;
  DANTE_LTR    (the element)
  TideCluster  Name=TRC_&lt;n&gt;
Why not TE_origin
  Only one copy, and its domains do not repeat along the array, so the domain-rhythm test fails.
Rule
  Plain tier priority: tier 1 beats tier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4 is RepeatMasker run with the TideCluster consensus library. Short satellite consensi can produce hits inside TEs that are not tandem at all. So a tier-4 hit keeps its priority over a tier-5 TE hit only where raw TideHunter output shows tandem structure. Without that support it is demoted below the TE hit: the TE keeps the contested span and the satellite hit keeps only sequence nobody else claimed.
In the unified GFF3:
Left: satellite wins
  source  TideCluster_RM
  source_tier=4
Right: TE hit wins
  source  RepeatMasker
  source_tier=5
  Any part of the satellite hit outside the TE still fills free sequence.
Config
  rm_tc_tandem_gate: True
  (default)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Each base goes to the highest tier that claims it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Six evidence tiers, best first. A lower tier keeps only the sequence no higher tier has claimed.</a:t>
            </a:r>
            <a:endParaRPr lang="en-US" sz="1600" dirty="0"/>
          </a:p>
        </p:txBody>
      </p:sp>
      <p:sp>
        <p:nvSpPr>
          <p:cNvPr id="4" name="genome 1"/>
          <p:cNvSpPr/>
          <p:nvPr/>
        </p:nvSpPr>
        <p:spPr>
          <a:xfrm>
            <a:off x="3429000" y="1613916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1  Complete elements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DANTE_LTR · DANTE_TIR · DANTE_LINE</a:t>
            </a:r>
            <a:endParaRPr lang="en-US" sz="1400" dirty="0"/>
          </a:p>
        </p:txBody>
      </p:sp>
      <p:sp>
        <p:nvSpPr>
          <p:cNvPr id="6" name="genome 2"/>
          <p:cNvSpPr/>
          <p:nvPr/>
        </p:nvSpPr>
        <p:spPr>
          <a:xfrm>
            <a:off x="3429000" y="2107692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865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2  Protein domains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DANTE</a:t>
            </a:r>
            <a:endParaRPr lang="en-US" sz="1400" dirty="0"/>
          </a:p>
        </p:txBody>
      </p:sp>
      <p:sp>
        <p:nvSpPr>
          <p:cNvPr id="8" name="genome 3"/>
          <p:cNvSpPr/>
          <p:nvPr/>
        </p:nvSpPr>
        <p:spPr>
          <a:xfrm>
            <a:off x="3429000" y="2601468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3591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3  Tandem arrays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TideCluster</a:t>
            </a:r>
            <a:endParaRPr lang="en-US" sz="1400" dirty="0"/>
          </a:p>
        </p:txBody>
      </p:sp>
      <p:sp>
        <p:nvSpPr>
          <p:cNvPr id="10" name="genome 4"/>
          <p:cNvSpPr/>
          <p:nvPr/>
        </p:nvSpPr>
        <p:spPr>
          <a:xfrm>
            <a:off x="3429000" y="3095244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4  Satellite-library hits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RepeatMasker, TideCluster library</a:t>
            </a:r>
            <a:endParaRPr lang="en-US" sz="1400" dirty="0"/>
          </a:p>
        </p:txBody>
      </p:sp>
      <p:sp>
        <p:nvSpPr>
          <p:cNvPr id="12" name="genome 5"/>
          <p:cNvSpPr/>
          <p:nvPr/>
        </p:nvSpPr>
        <p:spPr>
          <a:xfrm>
            <a:off x="3429000" y="3589020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3467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5  Repeat-library hits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RepeatMasker, TE library + simple repeats</a:t>
            </a:r>
            <a:endParaRPr lang="en-US" sz="1400" dirty="0"/>
          </a:p>
        </p:txBody>
      </p:sp>
      <p:sp>
        <p:nvSpPr>
          <p:cNvPr id="14" name="genome 6"/>
          <p:cNvSpPr/>
          <p:nvPr/>
        </p:nvSpPr>
        <p:spPr>
          <a:xfrm>
            <a:off x="3429000" y="4082796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6  Tandem leftovers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TideHunter</a:t>
            </a:r>
            <a:endParaRPr lang="en-US" sz="1400" dirty="0"/>
          </a:p>
        </p:txBody>
      </p:sp>
      <p:sp>
        <p:nvSpPr>
          <p:cNvPr id="16" name="LTR-RT body 7"/>
          <p:cNvSpPr/>
          <p:nvPr/>
        </p:nvSpPr>
        <p:spPr>
          <a:xfrm>
            <a:off x="3678083" y="1508760"/>
            <a:ext cx="2656881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17" name="LTR 8"/>
          <p:cNvSpPr/>
          <p:nvPr/>
        </p:nvSpPr>
        <p:spPr>
          <a:xfrm>
            <a:off x="3678083" y="1508760"/>
            <a:ext cx="182661" cy="274320"/>
          </a:xfrm>
          <a:prstGeom prst="roundRect">
            <a:avLst>
              <a:gd name="adj" fmla="val 25030"/>
            </a:avLst>
          </a:prstGeom>
          <a:solidFill>
            <a:srgbClr val="003F63"/>
          </a:solidFill>
          <a:ln/>
        </p:spPr>
      </p:sp>
      <p:sp>
        <p:nvSpPr>
          <p:cNvPr id="18" name="LTR 9"/>
          <p:cNvSpPr/>
          <p:nvPr/>
        </p:nvSpPr>
        <p:spPr>
          <a:xfrm>
            <a:off x="6152303" y="1508760"/>
            <a:ext cx="182661" cy="274320"/>
          </a:xfrm>
          <a:prstGeom prst="roundRect">
            <a:avLst>
              <a:gd name="adj" fmla="val 25030"/>
            </a:avLst>
          </a:prstGeom>
          <a:solidFill>
            <a:srgbClr val="003F63"/>
          </a:solidFill>
          <a:ln/>
        </p:spPr>
      </p:sp>
      <p:sp>
        <p:nvSpPr>
          <p:cNvPr id="19" name="TIR element 10"/>
          <p:cNvSpPr/>
          <p:nvPr/>
        </p:nvSpPr>
        <p:spPr>
          <a:xfrm>
            <a:off x="8178174" y="1508760"/>
            <a:ext cx="680826" cy="274320"/>
          </a:xfrm>
          <a:prstGeom prst="roundRect">
            <a:avLst>
              <a:gd name="adj" fmla="val 16667"/>
            </a:avLst>
          </a:prstGeom>
          <a:solidFill>
            <a:srgbClr val="D55E00">
              <a:alpha val="82000"/>
            </a:srgbClr>
          </a:solidFill>
          <a:ln w="15875">
            <a:solidFill>
              <a:srgbClr val="D55E00"/>
            </a:solidFill>
            <a:prstDash val="solid"/>
          </a:ln>
        </p:spPr>
      </p:sp>
      <p:sp>
        <p:nvSpPr>
          <p:cNvPr id="20" name="TIR 11"/>
          <p:cNvSpPr/>
          <p:nvPr/>
        </p:nvSpPr>
        <p:spPr>
          <a:xfrm rot="16200000">
            <a:off x="8154400" y="1581912"/>
            <a:ext cx="230429" cy="128016"/>
          </a:xfrm>
          <a:prstGeom prst="triangle">
            <a:avLst/>
          </a:prstGeom>
          <a:solidFill>
            <a:srgbClr val="763400"/>
          </a:solidFill>
          <a:ln/>
        </p:spPr>
      </p:sp>
      <p:sp>
        <p:nvSpPr>
          <p:cNvPr id="21" name="TIR 12"/>
          <p:cNvSpPr/>
          <p:nvPr/>
        </p:nvSpPr>
        <p:spPr>
          <a:xfrm rot="5400000">
            <a:off x="8652345" y="1581912"/>
            <a:ext cx="230429" cy="128016"/>
          </a:xfrm>
          <a:prstGeom prst="triangle">
            <a:avLst/>
          </a:prstGeom>
          <a:solidFill>
            <a:srgbClr val="763400"/>
          </a:solidFill>
          <a:ln/>
        </p:spPr>
      </p:sp>
      <p:sp>
        <p:nvSpPr>
          <p:cNvPr id="22" name="domain 13"/>
          <p:cNvSpPr/>
          <p:nvPr/>
        </p:nvSpPr>
        <p:spPr>
          <a:xfrm>
            <a:off x="3943771" y="2029968"/>
            <a:ext cx="332110" cy="219456"/>
          </a:xfrm>
          <a:prstGeom prst="homePlate">
            <a:avLst/>
          </a:prstGeom>
          <a:solidFill>
            <a:srgbClr val="0072B2">
              <a:alpha val="20000"/>
            </a:srgbClr>
          </a:solidFill>
          <a:ln/>
        </p:spPr>
      </p:sp>
      <p:sp>
        <p:nvSpPr>
          <p:cNvPr id="23" name="domain 14"/>
          <p:cNvSpPr/>
          <p:nvPr/>
        </p:nvSpPr>
        <p:spPr>
          <a:xfrm>
            <a:off x="4342303" y="2029968"/>
            <a:ext cx="282294" cy="219456"/>
          </a:xfrm>
          <a:prstGeom prst="homePlate">
            <a:avLst/>
          </a:prstGeom>
          <a:solidFill>
            <a:srgbClr val="0072B2">
              <a:alpha val="20000"/>
            </a:srgbClr>
          </a:solidFill>
          <a:ln/>
        </p:spPr>
      </p:sp>
      <p:sp>
        <p:nvSpPr>
          <p:cNvPr id="24" name="domain 15"/>
          <p:cNvSpPr/>
          <p:nvPr/>
        </p:nvSpPr>
        <p:spPr>
          <a:xfrm>
            <a:off x="4691018" y="2029968"/>
            <a:ext cx="431743" cy="219456"/>
          </a:xfrm>
          <a:prstGeom prst="homePlate">
            <a:avLst/>
          </a:prstGeom>
          <a:solidFill>
            <a:srgbClr val="0072B2">
              <a:alpha val="20000"/>
            </a:srgbClr>
          </a:solidFill>
          <a:ln/>
        </p:spPr>
      </p:sp>
      <p:sp>
        <p:nvSpPr>
          <p:cNvPr id="25" name="domain 16"/>
          <p:cNvSpPr/>
          <p:nvPr/>
        </p:nvSpPr>
        <p:spPr>
          <a:xfrm>
            <a:off x="5189183" y="2029968"/>
            <a:ext cx="298899" cy="219456"/>
          </a:xfrm>
          <a:prstGeom prst="homePlate">
            <a:avLst/>
          </a:prstGeom>
          <a:solidFill>
            <a:srgbClr val="0072B2">
              <a:alpha val="20000"/>
            </a:srgbClr>
          </a:solidFill>
          <a:ln/>
        </p:spPr>
      </p:sp>
      <p:sp>
        <p:nvSpPr>
          <p:cNvPr id="26" name="domain 17"/>
          <p:cNvSpPr/>
          <p:nvPr/>
        </p:nvSpPr>
        <p:spPr>
          <a:xfrm>
            <a:off x="5554505" y="2029968"/>
            <a:ext cx="365321" cy="219456"/>
          </a:xfrm>
          <a:prstGeom prst="homePlate">
            <a:avLst/>
          </a:prstGeom>
          <a:solidFill>
            <a:srgbClr val="0072B2">
              <a:alpha val="20000"/>
            </a:srgbClr>
          </a:solidFill>
          <a:ln/>
        </p:spPr>
      </p:sp>
      <p:sp>
        <p:nvSpPr>
          <p:cNvPr id="27" name="domain 18"/>
          <p:cNvSpPr/>
          <p:nvPr/>
        </p:nvSpPr>
        <p:spPr>
          <a:xfrm>
            <a:off x="8377440" y="2029968"/>
            <a:ext cx="282294" cy="219456"/>
          </a:xfrm>
          <a:prstGeom prst="homePlate">
            <a:avLst/>
          </a:prstGeom>
          <a:solidFill>
            <a:srgbClr val="D55E00">
              <a:alpha val="20000"/>
            </a:srgbClr>
          </a:solidFill>
          <a:ln/>
        </p:spPr>
      </p:sp>
      <p:sp>
        <p:nvSpPr>
          <p:cNvPr id="28" name="domain 19"/>
          <p:cNvSpPr/>
          <p:nvPr/>
        </p:nvSpPr>
        <p:spPr>
          <a:xfrm>
            <a:off x="6999183" y="2029968"/>
            <a:ext cx="373624" cy="219456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6303" y="2267712"/>
            <a:ext cx="73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E7A"/>
                </a:solidFill>
              </a:rPr>
              <a:t>RT</a:t>
            </a:r>
            <a:endParaRPr lang="en-US" sz="1000" dirty="0"/>
          </a:p>
        </p:txBody>
      </p:sp>
      <p:sp>
        <p:nvSpPr>
          <p:cNvPr id="30" name="monomer 20"/>
          <p:cNvSpPr/>
          <p:nvPr/>
        </p:nvSpPr>
        <p:spPr>
          <a:xfrm>
            <a:off x="9294479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1" name="monomer 21"/>
          <p:cNvSpPr/>
          <p:nvPr/>
        </p:nvSpPr>
        <p:spPr>
          <a:xfrm>
            <a:off x="9394804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2" name="monomer 22"/>
          <p:cNvSpPr/>
          <p:nvPr/>
        </p:nvSpPr>
        <p:spPr>
          <a:xfrm>
            <a:off x="9495129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3" name="monomer 23"/>
          <p:cNvSpPr/>
          <p:nvPr/>
        </p:nvSpPr>
        <p:spPr>
          <a:xfrm>
            <a:off x="9595454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4" name="monomer 24"/>
          <p:cNvSpPr/>
          <p:nvPr/>
        </p:nvSpPr>
        <p:spPr>
          <a:xfrm>
            <a:off x="9695779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5" name="monomer 25"/>
          <p:cNvSpPr/>
          <p:nvPr/>
        </p:nvSpPr>
        <p:spPr>
          <a:xfrm>
            <a:off x="9796104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6" name="monomer 26"/>
          <p:cNvSpPr/>
          <p:nvPr/>
        </p:nvSpPr>
        <p:spPr>
          <a:xfrm>
            <a:off x="9896429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7" name="monomer 27"/>
          <p:cNvSpPr/>
          <p:nvPr/>
        </p:nvSpPr>
        <p:spPr>
          <a:xfrm>
            <a:off x="9996754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8" name="monomer 28"/>
          <p:cNvSpPr/>
          <p:nvPr/>
        </p:nvSpPr>
        <p:spPr>
          <a:xfrm>
            <a:off x="10097079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9" name="monomer 29"/>
          <p:cNvSpPr/>
          <p:nvPr/>
        </p:nvSpPr>
        <p:spPr>
          <a:xfrm>
            <a:off x="10197403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0" name="monomer 30"/>
          <p:cNvSpPr/>
          <p:nvPr/>
        </p:nvSpPr>
        <p:spPr>
          <a:xfrm>
            <a:off x="10297728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1" name="monomer 31"/>
          <p:cNvSpPr/>
          <p:nvPr/>
        </p:nvSpPr>
        <p:spPr>
          <a:xfrm>
            <a:off x="10398053" y="2496312"/>
            <a:ext cx="76247" cy="274320"/>
          </a:xfrm>
          <a:prstGeom prst="roundRect">
            <a:avLst>
              <a:gd name="adj" fmla="val 59963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2" name="monomer 32"/>
          <p:cNvSpPr/>
          <p:nvPr/>
        </p:nvSpPr>
        <p:spPr>
          <a:xfrm>
            <a:off x="9070720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3" name="monomer 33"/>
          <p:cNvSpPr/>
          <p:nvPr/>
        </p:nvSpPr>
        <p:spPr>
          <a:xfrm>
            <a:off x="9174504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4" name="monomer, claimed above 34"/>
          <p:cNvSpPr/>
          <p:nvPr/>
        </p:nvSpPr>
        <p:spPr>
          <a:xfrm>
            <a:off x="9278289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45" name="monomer, claimed above 35"/>
          <p:cNvSpPr/>
          <p:nvPr/>
        </p:nvSpPr>
        <p:spPr>
          <a:xfrm>
            <a:off x="9382073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46" name="monomer, claimed above 36"/>
          <p:cNvSpPr/>
          <p:nvPr/>
        </p:nvSpPr>
        <p:spPr>
          <a:xfrm>
            <a:off x="9485858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47" name="monomer, claimed above 37"/>
          <p:cNvSpPr/>
          <p:nvPr/>
        </p:nvSpPr>
        <p:spPr>
          <a:xfrm>
            <a:off x="9589642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48" name="monomer, claimed above 38"/>
          <p:cNvSpPr/>
          <p:nvPr/>
        </p:nvSpPr>
        <p:spPr>
          <a:xfrm>
            <a:off x="9693426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49" name="monomer, claimed above 39"/>
          <p:cNvSpPr/>
          <p:nvPr/>
        </p:nvSpPr>
        <p:spPr>
          <a:xfrm>
            <a:off x="9797211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0" name="monomer, claimed above 40"/>
          <p:cNvSpPr/>
          <p:nvPr/>
        </p:nvSpPr>
        <p:spPr>
          <a:xfrm>
            <a:off x="9900995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1" name="monomer, claimed above 41"/>
          <p:cNvSpPr/>
          <p:nvPr/>
        </p:nvSpPr>
        <p:spPr>
          <a:xfrm>
            <a:off x="10004780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2" name="monomer, claimed above 42"/>
          <p:cNvSpPr/>
          <p:nvPr/>
        </p:nvSpPr>
        <p:spPr>
          <a:xfrm>
            <a:off x="10108564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3" name="monomer, claimed above 43"/>
          <p:cNvSpPr/>
          <p:nvPr/>
        </p:nvSpPr>
        <p:spPr>
          <a:xfrm>
            <a:off x="10212348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4" name="monomer, claimed above 44"/>
          <p:cNvSpPr/>
          <p:nvPr/>
        </p:nvSpPr>
        <p:spPr>
          <a:xfrm>
            <a:off x="10316133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5" name="monomer, claimed above 45"/>
          <p:cNvSpPr/>
          <p:nvPr/>
        </p:nvSpPr>
        <p:spPr>
          <a:xfrm>
            <a:off x="10419917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56" name="monomer 46"/>
          <p:cNvSpPr/>
          <p:nvPr/>
        </p:nvSpPr>
        <p:spPr>
          <a:xfrm>
            <a:off x="10523702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7" name="monomer 47"/>
          <p:cNvSpPr/>
          <p:nvPr/>
        </p:nvSpPr>
        <p:spPr>
          <a:xfrm>
            <a:off x="10627486" y="3017520"/>
            <a:ext cx="78876" cy="219456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8" name="hit, claimed above 48"/>
          <p:cNvSpPr/>
          <p:nvPr/>
        </p:nvSpPr>
        <p:spPr>
          <a:xfrm>
            <a:off x="3678083" y="3529584"/>
            <a:ext cx="2656881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20000"/>
            </a:srgbClr>
          </a:solidFill>
          <a:ln/>
        </p:spPr>
      </p:sp>
      <p:sp>
        <p:nvSpPr>
          <p:cNvPr id="59" name="hit, claimed above 49"/>
          <p:cNvSpPr/>
          <p:nvPr/>
        </p:nvSpPr>
        <p:spPr>
          <a:xfrm>
            <a:off x="6625560" y="3529584"/>
            <a:ext cx="1120872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20000"/>
            </a:srgbClr>
          </a:solidFill>
          <a:ln/>
        </p:spPr>
      </p:sp>
      <p:sp>
        <p:nvSpPr>
          <p:cNvPr id="60" name="hit 50"/>
          <p:cNvSpPr/>
          <p:nvPr/>
        </p:nvSpPr>
        <p:spPr>
          <a:xfrm>
            <a:off x="6625560" y="3529584"/>
            <a:ext cx="373624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1" name="hit 51"/>
          <p:cNvSpPr/>
          <p:nvPr/>
        </p:nvSpPr>
        <p:spPr>
          <a:xfrm>
            <a:off x="7372807" y="3529584"/>
            <a:ext cx="373624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62" name="hit, claimed above 52"/>
          <p:cNvSpPr/>
          <p:nvPr/>
        </p:nvSpPr>
        <p:spPr>
          <a:xfrm>
            <a:off x="8178174" y="3529584"/>
            <a:ext cx="680826" cy="182880"/>
          </a:xfrm>
          <a:prstGeom prst="roundRect">
            <a:avLst>
              <a:gd name="adj" fmla="val 25000"/>
            </a:avLst>
          </a:prstGeom>
          <a:solidFill>
            <a:srgbClr val="D55E00">
              <a:alpha val="20000"/>
            </a:srgbClr>
          </a:solidFill>
          <a:ln/>
        </p:spPr>
      </p:sp>
      <p:sp>
        <p:nvSpPr>
          <p:cNvPr id="63" name="hit 53"/>
          <p:cNvSpPr/>
          <p:nvPr/>
        </p:nvSpPr>
        <p:spPr>
          <a:xfrm>
            <a:off x="5986248" y="3529584"/>
            <a:ext cx="132844" cy="182880"/>
          </a:xfrm>
          <a:prstGeom prst="roundRect">
            <a:avLst>
              <a:gd name="adj" fmla="val 34416"/>
            </a:avLst>
          </a:prstGeom>
          <a:solidFill>
            <a:srgbClr val="8E7F6E">
              <a:alpha val="80000"/>
            </a:srgbClr>
          </a:solidFill>
          <a:ln w="12700">
            <a:solidFill>
              <a:srgbClr val="8E7F6E"/>
            </a:solidFill>
            <a:prstDash val="solid"/>
          </a:ln>
        </p:spPr>
      </p:sp>
      <p:sp>
        <p:nvSpPr>
          <p:cNvPr id="64" name="hit 54"/>
          <p:cNvSpPr/>
          <p:nvPr/>
        </p:nvSpPr>
        <p:spPr>
          <a:xfrm>
            <a:off x="7879275" y="3529584"/>
            <a:ext cx="132844" cy="182880"/>
          </a:xfrm>
          <a:prstGeom prst="roundRect">
            <a:avLst>
              <a:gd name="adj" fmla="val 34416"/>
            </a:avLst>
          </a:prstGeom>
          <a:solidFill>
            <a:srgbClr val="8E7F6E">
              <a:alpha val="80000"/>
            </a:srgbClr>
          </a:solidFill>
          <a:ln w="12700">
            <a:solidFill>
              <a:srgbClr val="8E7F6E"/>
            </a:solidFill>
            <a:prstDash val="solid"/>
          </a:ln>
        </p:spPr>
      </p:sp>
      <p:sp>
        <p:nvSpPr>
          <p:cNvPr id="65" name="monomer, claimed above 55"/>
          <p:cNvSpPr/>
          <p:nvPr/>
        </p:nvSpPr>
        <p:spPr>
          <a:xfrm>
            <a:off x="9379306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66" name="monomer, claimed above 56"/>
          <p:cNvSpPr/>
          <p:nvPr/>
        </p:nvSpPr>
        <p:spPr>
          <a:xfrm>
            <a:off x="9494622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67" name="monomer, claimed above 57"/>
          <p:cNvSpPr/>
          <p:nvPr/>
        </p:nvSpPr>
        <p:spPr>
          <a:xfrm>
            <a:off x="9609938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68" name="monomer, claimed above 58"/>
          <p:cNvSpPr/>
          <p:nvPr/>
        </p:nvSpPr>
        <p:spPr>
          <a:xfrm>
            <a:off x="9725254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69" name="monomer, claimed above 59"/>
          <p:cNvSpPr/>
          <p:nvPr/>
        </p:nvSpPr>
        <p:spPr>
          <a:xfrm>
            <a:off x="9840570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70" name="monomer, claimed above 60"/>
          <p:cNvSpPr/>
          <p:nvPr/>
        </p:nvSpPr>
        <p:spPr>
          <a:xfrm>
            <a:off x="9955886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71" name="monomer, claimed above 61"/>
          <p:cNvSpPr/>
          <p:nvPr/>
        </p:nvSpPr>
        <p:spPr>
          <a:xfrm>
            <a:off x="10071202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72" name="monomer, claimed above 62"/>
          <p:cNvSpPr/>
          <p:nvPr/>
        </p:nvSpPr>
        <p:spPr>
          <a:xfrm>
            <a:off x="10186518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73" name="monomer, claimed above 63"/>
          <p:cNvSpPr/>
          <p:nvPr/>
        </p:nvSpPr>
        <p:spPr>
          <a:xfrm>
            <a:off x="10301834" y="4014216"/>
            <a:ext cx="87640" cy="201168"/>
          </a:xfrm>
          <a:prstGeom prst="roundRect">
            <a:avLst>
              <a:gd name="adj" fmla="val 52168"/>
            </a:avLst>
          </a:prstGeom>
          <a:solidFill>
            <a:srgbClr val="009E73">
              <a:alpha val="20000"/>
            </a:srgbClr>
          </a:solidFill>
          <a:ln/>
        </p:spPr>
      </p:sp>
      <p:sp>
        <p:nvSpPr>
          <p:cNvPr id="74" name="monomer (Satellite/Unknown) 64"/>
          <p:cNvSpPr/>
          <p:nvPr/>
        </p:nvSpPr>
        <p:spPr>
          <a:xfrm>
            <a:off x="10964246" y="4014216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5" name="monomer (Satellite/Unknown) 65"/>
          <p:cNvSpPr/>
          <p:nvPr/>
        </p:nvSpPr>
        <p:spPr>
          <a:xfrm>
            <a:off x="11072181" y="4014216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6" name="monomer (Satellite/Unknown) 66"/>
          <p:cNvSpPr/>
          <p:nvPr/>
        </p:nvSpPr>
        <p:spPr>
          <a:xfrm>
            <a:off x="11180117" y="4014216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7" name="monomer (Satellite/Unknown) 67"/>
          <p:cNvSpPr/>
          <p:nvPr/>
        </p:nvSpPr>
        <p:spPr>
          <a:xfrm>
            <a:off x="11288053" y="4014216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8" name="arrow 68"/>
          <p:cNvSpPr/>
          <p:nvPr/>
        </p:nvSpPr>
        <p:spPr>
          <a:xfrm>
            <a:off x="8078541" y="4370832"/>
            <a:ext cx="0" cy="36576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79" name="divider 69"/>
          <p:cNvSpPr/>
          <p:nvPr/>
        </p:nvSpPr>
        <p:spPr>
          <a:xfrm>
            <a:off x="457200" y="4846320"/>
            <a:ext cx="112745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4901184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304A"/>
                </a:solidFill>
              </a:rPr>
              <a:t>Unified annotation</a:t>
            </a:r>
            <a:endParaRPr lang="en-US" sz="1800" dirty="0"/>
          </a:p>
        </p:txBody>
      </p:sp>
      <p:sp>
        <p:nvSpPr>
          <p:cNvPr id="81" name="genome 70"/>
          <p:cNvSpPr/>
          <p:nvPr/>
        </p:nvSpPr>
        <p:spPr>
          <a:xfrm>
            <a:off x="3429000" y="5381244"/>
            <a:ext cx="830275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502920" y="5138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1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non-overlapping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02920" y="5669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2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nested children</a:t>
            </a:r>
            <a:endParaRPr lang="en-US" sz="1400" dirty="0"/>
          </a:p>
        </p:txBody>
      </p:sp>
      <p:sp>
        <p:nvSpPr>
          <p:cNvPr id="84" name="LTR-RT body 71"/>
          <p:cNvSpPr/>
          <p:nvPr/>
        </p:nvSpPr>
        <p:spPr>
          <a:xfrm>
            <a:off x="3678083" y="5276088"/>
            <a:ext cx="2656881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85" name="LTR 72"/>
          <p:cNvSpPr/>
          <p:nvPr/>
        </p:nvSpPr>
        <p:spPr>
          <a:xfrm>
            <a:off x="3678083" y="5276088"/>
            <a:ext cx="182661" cy="274320"/>
          </a:xfrm>
          <a:prstGeom prst="roundRect">
            <a:avLst>
              <a:gd name="adj" fmla="val 25030"/>
            </a:avLst>
          </a:prstGeom>
          <a:solidFill>
            <a:srgbClr val="003F63"/>
          </a:solidFill>
          <a:ln/>
        </p:spPr>
      </p:sp>
      <p:sp>
        <p:nvSpPr>
          <p:cNvPr id="86" name="LTR 73"/>
          <p:cNvSpPr/>
          <p:nvPr/>
        </p:nvSpPr>
        <p:spPr>
          <a:xfrm>
            <a:off x="6152303" y="5276088"/>
            <a:ext cx="182661" cy="274320"/>
          </a:xfrm>
          <a:prstGeom prst="roundRect">
            <a:avLst>
              <a:gd name="adj" fmla="val 25030"/>
            </a:avLst>
          </a:prstGeom>
          <a:solidFill>
            <a:srgbClr val="003F63"/>
          </a:solidFill>
          <a:ln/>
        </p:spPr>
      </p:sp>
      <p:sp>
        <p:nvSpPr>
          <p:cNvPr id="87" name="TIR element 74"/>
          <p:cNvSpPr/>
          <p:nvPr/>
        </p:nvSpPr>
        <p:spPr>
          <a:xfrm>
            <a:off x="8178174" y="5276088"/>
            <a:ext cx="680826" cy="274320"/>
          </a:xfrm>
          <a:prstGeom prst="roundRect">
            <a:avLst>
              <a:gd name="adj" fmla="val 16667"/>
            </a:avLst>
          </a:prstGeom>
          <a:solidFill>
            <a:srgbClr val="D55E00">
              <a:alpha val="82000"/>
            </a:srgbClr>
          </a:solidFill>
          <a:ln w="15875">
            <a:solidFill>
              <a:srgbClr val="D55E00"/>
            </a:solidFill>
            <a:prstDash val="solid"/>
          </a:ln>
        </p:spPr>
      </p:sp>
      <p:sp>
        <p:nvSpPr>
          <p:cNvPr id="88" name="TIR 75"/>
          <p:cNvSpPr/>
          <p:nvPr/>
        </p:nvSpPr>
        <p:spPr>
          <a:xfrm rot="16200000">
            <a:off x="8154400" y="5349240"/>
            <a:ext cx="230429" cy="128016"/>
          </a:xfrm>
          <a:prstGeom prst="triangle">
            <a:avLst/>
          </a:prstGeom>
          <a:solidFill>
            <a:srgbClr val="763400"/>
          </a:solidFill>
          <a:ln/>
        </p:spPr>
      </p:sp>
      <p:sp>
        <p:nvSpPr>
          <p:cNvPr id="89" name="TIR 76"/>
          <p:cNvSpPr/>
          <p:nvPr/>
        </p:nvSpPr>
        <p:spPr>
          <a:xfrm rot="5400000">
            <a:off x="8652345" y="5349240"/>
            <a:ext cx="230429" cy="128016"/>
          </a:xfrm>
          <a:prstGeom prst="triangle">
            <a:avLst/>
          </a:prstGeom>
          <a:solidFill>
            <a:srgbClr val="763400"/>
          </a:solidFill>
          <a:ln/>
        </p:spPr>
      </p:sp>
      <p:sp>
        <p:nvSpPr>
          <p:cNvPr id="90" name="hit 77"/>
          <p:cNvSpPr/>
          <p:nvPr/>
        </p:nvSpPr>
        <p:spPr>
          <a:xfrm>
            <a:off x="6625560" y="5321808"/>
            <a:ext cx="373624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1" name="hit 78"/>
          <p:cNvSpPr/>
          <p:nvPr/>
        </p:nvSpPr>
        <p:spPr>
          <a:xfrm>
            <a:off x="7372807" y="5321808"/>
            <a:ext cx="373624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2" name="domain 79"/>
          <p:cNvSpPr/>
          <p:nvPr/>
        </p:nvSpPr>
        <p:spPr>
          <a:xfrm>
            <a:off x="6999183" y="5303520"/>
            <a:ext cx="373624" cy="219456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93" name="hit 80"/>
          <p:cNvSpPr/>
          <p:nvPr/>
        </p:nvSpPr>
        <p:spPr>
          <a:xfrm>
            <a:off x="7879275" y="5321808"/>
            <a:ext cx="132844" cy="182880"/>
          </a:xfrm>
          <a:prstGeom prst="roundRect">
            <a:avLst>
              <a:gd name="adj" fmla="val 34416"/>
            </a:avLst>
          </a:prstGeom>
          <a:solidFill>
            <a:srgbClr val="8E7F6E">
              <a:alpha val="80000"/>
            </a:srgbClr>
          </a:solidFill>
          <a:ln w="12700">
            <a:solidFill>
              <a:srgbClr val="8E7F6E"/>
            </a:solidFill>
            <a:prstDash val="solid"/>
          </a:ln>
        </p:spPr>
      </p:sp>
      <p:sp>
        <p:nvSpPr>
          <p:cNvPr id="94" name="monomer 81"/>
          <p:cNvSpPr/>
          <p:nvPr/>
        </p:nvSpPr>
        <p:spPr>
          <a:xfrm>
            <a:off x="9070720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5" name="monomer 82"/>
          <p:cNvSpPr/>
          <p:nvPr/>
        </p:nvSpPr>
        <p:spPr>
          <a:xfrm>
            <a:off x="9174504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6" name="monomer 83"/>
          <p:cNvSpPr/>
          <p:nvPr/>
        </p:nvSpPr>
        <p:spPr>
          <a:xfrm>
            <a:off x="9278289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7" name="monomer 84"/>
          <p:cNvSpPr/>
          <p:nvPr/>
        </p:nvSpPr>
        <p:spPr>
          <a:xfrm>
            <a:off x="9382073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8" name="monomer 85"/>
          <p:cNvSpPr/>
          <p:nvPr/>
        </p:nvSpPr>
        <p:spPr>
          <a:xfrm>
            <a:off x="9485858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9" name="monomer 86"/>
          <p:cNvSpPr/>
          <p:nvPr/>
        </p:nvSpPr>
        <p:spPr>
          <a:xfrm>
            <a:off x="9589642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0" name="monomer 87"/>
          <p:cNvSpPr/>
          <p:nvPr/>
        </p:nvSpPr>
        <p:spPr>
          <a:xfrm>
            <a:off x="9693426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1" name="monomer 88"/>
          <p:cNvSpPr/>
          <p:nvPr/>
        </p:nvSpPr>
        <p:spPr>
          <a:xfrm>
            <a:off x="9797211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2" name="monomer 89"/>
          <p:cNvSpPr/>
          <p:nvPr/>
        </p:nvSpPr>
        <p:spPr>
          <a:xfrm>
            <a:off x="9900995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3" name="monomer 90"/>
          <p:cNvSpPr/>
          <p:nvPr/>
        </p:nvSpPr>
        <p:spPr>
          <a:xfrm>
            <a:off x="10004780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4" name="monomer 91"/>
          <p:cNvSpPr/>
          <p:nvPr/>
        </p:nvSpPr>
        <p:spPr>
          <a:xfrm>
            <a:off x="10108564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5" name="monomer 92"/>
          <p:cNvSpPr/>
          <p:nvPr/>
        </p:nvSpPr>
        <p:spPr>
          <a:xfrm>
            <a:off x="10212348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6" name="monomer 93"/>
          <p:cNvSpPr/>
          <p:nvPr/>
        </p:nvSpPr>
        <p:spPr>
          <a:xfrm>
            <a:off x="10316133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7" name="monomer 94"/>
          <p:cNvSpPr/>
          <p:nvPr/>
        </p:nvSpPr>
        <p:spPr>
          <a:xfrm>
            <a:off x="10419917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8" name="monomer 95"/>
          <p:cNvSpPr/>
          <p:nvPr/>
        </p:nvSpPr>
        <p:spPr>
          <a:xfrm>
            <a:off x="10523702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9" name="monomer 96"/>
          <p:cNvSpPr/>
          <p:nvPr/>
        </p:nvSpPr>
        <p:spPr>
          <a:xfrm>
            <a:off x="10627486" y="5276088"/>
            <a:ext cx="78876" cy="274320"/>
          </a:xfrm>
          <a:prstGeom prst="roundRect">
            <a:avLst>
              <a:gd name="adj" fmla="val 57964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0" name="monomer (Satellite/Unknown) 97"/>
          <p:cNvSpPr/>
          <p:nvPr/>
        </p:nvSpPr>
        <p:spPr>
          <a:xfrm>
            <a:off x="10964246" y="5312664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1" name="monomer (Satellite/Unknown) 98"/>
          <p:cNvSpPr/>
          <p:nvPr/>
        </p:nvSpPr>
        <p:spPr>
          <a:xfrm>
            <a:off x="11072181" y="5312664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2" name="monomer (Satellite/Unknown) 99"/>
          <p:cNvSpPr/>
          <p:nvPr/>
        </p:nvSpPr>
        <p:spPr>
          <a:xfrm>
            <a:off x="11180117" y="5312664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3" name="monomer (Satellite/Unknown) 100"/>
          <p:cNvSpPr/>
          <p:nvPr/>
        </p:nvSpPr>
        <p:spPr>
          <a:xfrm>
            <a:off x="11288053" y="5312664"/>
            <a:ext cx="82031" cy="201168"/>
          </a:xfrm>
          <a:prstGeom prst="roundRect">
            <a:avLst>
              <a:gd name="adj" fmla="val 55735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4" name="parent link 101"/>
          <p:cNvSpPr/>
          <p:nvPr/>
        </p:nvSpPr>
        <p:spPr>
          <a:xfrm>
            <a:off x="6052670" y="5550408"/>
            <a:ext cx="0" cy="333756"/>
          </a:xfrm>
          <a:prstGeom prst="line">
            <a:avLst/>
          </a:prstGeom>
          <a:noFill/>
          <a:ln w="12700">
            <a:solidFill>
              <a:srgbClr val="8E7F6E"/>
            </a:solidFill>
            <a:prstDash val="dash"/>
          </a:ln>
        </p:spPr>
      </p:sp>
      <p:sp>
        <p:nvSpPr>
          <p:cNvPr id="115" name="Level-2 child 102"/>
          <p:cNvSpPr/>
          <p:nvPr/>
        </p:nvSpPr>
        <p:spPr>
          <a:xfrm>
            <a:off x="5986248" y="5884164"/>
            <a:ext cx="132844" cy="118872"/>
          </a:xfrm>
          <a:prstGeom prst="roundRect">
            <a:avLst>
              <a:gd name="adj" fmla="val 38462"/>
            </a:avLst>
          </a:prstGeom>
          <a:solidFill>
            <a:srgbClr val="8E7F6E">
              <a:alpha val="80000"/>
            </a:srgbClr>
          </a:solidFill>
          <a:ln w="12700">
            <a:solidFill>
              <a:srgbClr val="8E7F6E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6228820" y="5806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a simple repeat inside an element is nested, not cut out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5720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2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78638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LTR retrotransposon</a:t>
            </a:r>
            <a:endParaRPr lang="en-US" sz="1200" dirty="0"/>
          </a:p>
        </p:txBody>
      </p:sp>
      <p:sp>
        <p:nvSpPr>
          <p:cNvPr id="119" name="Shape 117"/>
          <p:cNvSpPr/>
          <p:nvPr/>
        </p:nvSpPr>
        <p:spPr>
          <a:xfrm>
            <a:off x="237744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D55E00">
              <a:alpha val="82000"/>
            </a:srgbClr>
          </a:solidFill>
          <a:ln w="12700">
            <a:solidFill>
              <a:srgbClr val="D55E0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270662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TIR DNA transposon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425196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009E73">
              <a:alpha val="82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58114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tandem repeat</a:t>
            </a:r>
            <a:endParaRPr lang="en-US" sz="1200" dirty="0"/>
          </a:p>
        </p:txBody>
      </p:sp>
      <p:sp>
        <p:nvSpPr>
          <p:cNvPr id="123" name="Shape 121"/>
          <p:cNvSpPr/>
          <p:nvPr/>
        </p:nvSpPr>
        <p:spPr>
          <a:xfrm>
            <a:off x="571500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04418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Satellite/Unknown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745236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8E7F6E">
              <a:alpha val="82000"/>
            </a:srgbClr>
          </a:solidFill>
          <a:ln w="12700">
            <a:solidFill>
              <a:srgbClr val="8E7F6E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78154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simple repeat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8915400" y="6382512"/>
            <a:ext cx="256032" cy="182880"/>
          </a:xfrm>
          <a:prstGeom prst="roundRect">
            <a:avLst>
              <a:gd name="adj" fmla="val 25000"/>
            </a:avLst>
          </a:prstGeom>
          <a:solidFill>
            <a:srgbClr val="14304A">
              <a:alpha val="20000"/>
            </a:srgbClr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244584" y="6336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7A"/>
                </a:solidFill>
              </a:rPr>
              <a:t>claimed by a higher tier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Tandem LTR-RT: one container, copies nested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Same-lineage copies head-to-tail share their middle LTR. DANTE_LTR reports every copy, so that LTR would be counted twice.</a:t>
            </a:r>
            <a:endParaRPr lang="en-US" sz="1600" dirty="0"/>
          </a:p>
        </p:txBody>
      </p:sp>
      <p:sp>
        <p:nvSpPr>
          <p:cNvPr id="4" name="genome 103"/>
          <p:cNvSpPr/>
          <p:nvPr/>
        </p:nvSpPr>
        <p:spPr>
          <a:xfrm>
            <a:off x="2148840" y="234543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-77724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DANTE_LTR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two complete copies</a:t>
            </a:r>
            <a:endParaRPr lang="en-US" sz="1400" dirty="0"/>
          </a:p>
        </p:txBody>
      </p:sp>
      <p:sp>
        <p:nvSpPr>
          <p:cNvPr id="6" name="LTR-RT body 104"/>
          <p:cNvSpPr/>
          <p:nvPr/>
        </p:nvSpPr>
        <p:spPr>
          <a:xfrm>
            <a:off x="2723815" y="2011680"/>
            <a:ext cx="4408140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7" name="LTR 105"/>
          <p:cNvSpPr/>
          <p:nvPr/>
        </p:nvSpPr>
        <p:spPr>
          <a:xfrm>
            <a:off x="2723815" y="201168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8" name="LTR 106"/>
          <p:cNvSpPr/>
          <p:nvPr/>
        </p:nvSpPr>
        <p:spPr>
          <a:xfrm>
            <a:off x="6786969" y="201168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9" name="LTR-RT body 107"/>
          <p:cNvSpPr/>
          <p:nvPr/>
        </p:nvSpPr>
        <p:spPr>
          <a:xfrm>
            <a:off x="6786969" y="2468880"/>
            <a:ext cx="4408140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10" name="LTR 108"/>
          <p:cNvSpPr/>
          <p:nvPr/>
        </p:nvSpPr>
        <p:spPr>
          <a:xfrm>
            <a:off x="6786969" y="246888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11" name="LTR 109"/>
          <p:cNvSpPr/>
          <p:nvPr/>
        </p:nvSpPr>
        <p:spPr>
          <a:xfrm>
            <a:off x="10850124" y="246888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64009" y="2935224"/>
            <a:ext cx="1990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2B2"/>
                </a:solidFill>
              </a:rPr>
              <a:t>shared LTR</a:t>
            </a:r>
            <a:endParaRPr lang="en-US" sz="1200" dirty="0"/>
          </a:p>
        </p:txBody>
      </p:sp>
      <p:sp>
        <p:nvSpPr>
          <p:cNvPr id="13" name="arrow 110"/>
          <p:cNvSpPr/>
          <p:nvPr/>
        </p:nvSpPr>
        <p:spPr>
          <a:xfrm>
            <a:off x="6940296" y="3246120"/>
            <a:ext cx="0" cy="41148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14" name="divider 111"/>
          <p:cNvSpPr/>
          <p:nvPr/>
        </p:nvSpPr>
        <p:spPr>
          <a:xfrm>
            <a:off x="457200" y="3767328"/>
            <a:ext cx="112745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15" name="genome 112"/>
          <p:cNvSpPr/>
          <p:nvPr/>
        </p:nvSpPr>
        <p:spPr>
          <a:xfrm>
            <a:off x="2148840" y="431139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-777240" y="4069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1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container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-77724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2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member copies</a:t>
            </a:r>
            <a:endParaRPr lang="en-US" sz="1400" dirty="0"/>
          </a:p>
        </p:txBody>
      </p:sp>
      <p:sp>
        <p:nvSpPr>
          <p:cNvPr id="18" name="LTR-RT body 113"/>
          <p:cNvSpPr/>
          <p:nvPr/>
        </p:nvSpPr>
        <p:spPr>
          <a:xfrm>
            <a:off x="2723815" y="4206240"/>
            <a:ext cx="8471294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19" name="LTR 114"/>
          <p:cNvSpPr/>
          <p:nvPr/>
        </p:nvSpPr>
        <p:spPr>
          <a:xfrm>
            <a:off x="2723815" y="420624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20" name="LTR 115"/>
          <p:cNvSpPr/>
          <p:nvPr/>
        </p:nvSpPr>
        <p:spPr>
          <a:xfrm>
            <a:off x="6786969" y="420624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21" name="LTR 116"/>
          <p:cNvSpPr/>
          <p:nvPr/>
        </p:nvSpPr>
        <p:spPr>
          <a:xfrm>
            <a:off x="10850124" y="4206240"/>
            <a:ext cx="344985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22" name="annotation label 117"/>
          <p:cNvSpPr txBox="1"/>
          <p:nvPr/>
        </p:nvSpPr>
        <p:spPr>
          <a:xfrm>
            <a:off x="2723815" y="3886200"/>
            <a:ext cx="8471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annotated as  </a:t>
            </a:r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</a:rPr>
              <a:t>LTR_RT_TR</a:t>
            </a:r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  (tandem LTR-RT, copy_number = 2)</a:t>
            </a:r>
            <a:endParaRPr lang="en-US" sz="1300" dirty="0"/>
          </a:p>
        </p:txBody>
      </p:sp>
      <p:sp>
        <p:nvSpPr>
          <p:cNvPr id="23" name="parent link 118"/>
          <p:cNvSpPr/>
          <p:nvPr/>
        </p:nvSpPr>
        <p:spPr>
          <a:xfrm>
            <a:off x="4927884" y="4480560"/>
            <a:ext cx="0" cy="534924"/>
          </a:xfrm>
          <a:prstGeom prst="line">
            <a:avLst/>
          </a:prstGeom>
          <a:noFill/>
          <a:ln w="12700">
            <a:solidFill>
              <a:srgbClr val="0072B2"/>
            </a:solidFill>
            <a:prstDash val="dash"/>
          </a:ln>
        </p:spPr>
      </p:sp>
      <p:sp>
        <p:nvSpPr>
          <p:cNvPr id="24" name="Level-2 child 119"/>
          <p:cNvSpPr/>
          <p:nvPr/>
        </p:nvSpPr>
        <p:spPr>
          <a:xfrm>
            <a:off x="2723815" y="5015484"/>
            <a:ext cx="4408140" cy="118872"/>
          </a:xfrm>
          <a:prstGeom prst="roundRect">
            <a:avLst>
              <a:gd name="adj" fmla="val 38462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5" name="member LTR 120"/>
          <p:cNvSpPr/>
          <p:nvPr/>
        </p:nvSpPr>
        <p:spPr>
          <a:xfrm>
            <a:off x="2723815" y="5015484"/>
            <a:ext cx="344985" cy="118872"/>
          </a:xfrm>
          <a:prstGeom prst="roundRect">
            <a:avLst>
              <a:gd name="adj" fmla="val 38462"/>
            </a:avLst>
          </a:prstGeom>
          <a:solidFill>
            <a:srgbClr val="003F63"/>
          </a:solidFill>
          <a:ln/>
        </p:spPr>
      </p:sp>
      <p:sp>
        <p:nvSpPr>
          <p:cNvPr id="26" name="member LTR 121"/>
          <p:cNvSpPr/>
          <p:nvPr/>
        </p:nvSpPr>
        <p:spPr>
          <a:xfrm>
            <a:off x="6786969" y="5015484"/>
            <a:ext cx="344985" cy="118872"/>
          </a:xfrm>
          <a:prstGeom prst="roundRect">
            <a:avLst>
              <a:gd name="adj" fmla="val 38462"/>
            </a:avLst>
          </a:prstGeom>
          <a:solidFill>
            <a:srgbClr val="003F63"/>
          </a:solidFill>
          <a:ln/>
        </p:spPr>
      </p:sp>
      <p:sp>
        <p:nvSpPr>
          <p:cNvPr id="27" name="parent link 122"/>
          <p:cNvSpPr/>
          <p:nvPr/>
        </p:nvSpPr>
        <p:spPr>
          <a:xfrm>
            <a:off x="8991039" y="4480560"/>
            <a:ext cx="0" cy="736092"/>
          </a:xfrm>
          <a:prstGeom prst="line">
            <a:avLst/>
          </a:prstGeom>
          <a:noFill/>
          <a:ln w="12700">
            <a:solidFill>
              <a:srgbClr val="0072B2"/>
            </a:solidFill>
            <a:prstDash val="dash"/>
          </a:ln>
        </p:spPr>
      </p:sp>
      <p:sp>
        <p:nvSpPr>
          <p:cNvPr id="28" name="Level-2 child 123"/>
          <p:cNvSpPr/>
          <p:nvPr/>
        </p:nvSpPr>
        <p:spPr>
          <a:xfrm>
            <a:off x="6786969" y="5216652"/>
            <a:ext cx="4408140" cy="118872"/>
          </a:xfrm>
          <a:prstGeom prst="roundRect">
            <a:avLst>
              <a:gd name="adj" fmla="val 38462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9" name="member LTR 124"/>
          <p:cNvSpPr/>
          <p:nvPr/>
        </p:nvSpPr>
        <p:spPr>
          <a:xfrm>
            <a:off x="6786969" y="5216652"/>
            <a:ext cx="344985" cy="118872"/>
          </a:xfrm>
          <a:prstGeom prst="roundRect">
            <a:avLst>
              <a:gd name="adj" fmla="val 38462"/>
            </a:avLst>
          </a:prstGeom>
          <a:solidFill>
            <a:srgbClr val="003F63"/>
          </a:solidFill>
          <a:ln/>
        </p:spPr>
      </p:sp>
      <p:sp>
        <p:nvSpPr>
          <p:cNvPr id="30" name="member LTR 125"/>
          <p:cNvSpPr/>
          <p:nvPr/>
        </p:nvSpPr>
        <p:spPr>
          <a:xfrm>
            <a:off x="10850124" y="5216652"/>
            <a:ext cx="344985" cy="118872"/>
          </a:xfrm>
          <a:prstGeom prst="roundRect">
            <a:avLst>
              <a:gd name="adj" fmla="val 38462"/>
            </a:avLst>
          </a:prstGeom>
          <a:solidFill>
            <a:srgbClr val="003F63"/>
          </a:solidFill>
          <a:ln/>
        </p:spPr>
      </p:sp>
      <p:sp>
        <p:nvSpPr>
          <p:cNvPr id="31" name="annotation label 126"/>
          <p:cNvSpPr txBox="1"/>
          <p:nvPr/>
        </p:nvSpPr>
        <p:spPr>
          <a:xfrm>
            <a:off x="2723815" y="5458968"/>
            <a:ext cx="84712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annotated as  </a:t>
            </a:r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</a:rPr>
              <a:t>LTR-RT</a:t>
            </a:r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  (member copy, nested under the container)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7A"/>
                </a:solidFill>
              </a:rPr>
              <a:t>Detected when adjacent copies have the same lineage and strand and their facing LTRs coincide. A nested insertion does not qualify.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Tandem repeat derived from an LTR-RT: the satellite wins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monomer is a whole LTR-RT, so its protein domains recur once per period. The TE family is kept as an attribute.</a:t>
            </a:r>
            <a:endParaRPr lang="en-US" sz="1600" dirty="0"/>
          </a:p>
        </p:txBody>
      </p:sp>
      <p:sp>
        <p:nvSpPr>
          <p:cNvPr id="4" name="genome 127"/>
          <p:cNvSpPr/>
          <p:nvPr/>
        </p:nvSpPr>
        <p:spPr>
          <a:xfrm>
            <a:off x="2148840" y="175107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-77724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TideCluster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tandem array</a:t>
            </a:r>
            <a:endParaRPr lang="en-US" sz="1400" dirty="0"/>
          </a:p>
        </p:txBody>
      </p:sp>
      <p:sp>
        <p:nvSpPr>
          <p:cNvPr id="6" name="monomer 128"/>
          <p:cNvSpPr/>
          <p:nvPr/>
        </p:nvSpPr>
        <p:spPr>
          <a:xfrm>
            <a:off x="2459187" y="164592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" name="monomer LTR part 129"/>
          <p:cNvSpPr/>
          <p:nvPr/>
        </p:nvSpPr>
        <p:spPr>
          <a:xfrm>
            <a:off x="2459187" y="164592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8" name="monomer 130"/>
          <p:cNvSpPr/>
          <p:nvPr/>
        </p:nvSpPr>
        <p:spPr>
          <a:xfrm>
            <a:off x="4260775" y="164592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" name="monomer LTR part 131"/>
          <p:cNvSpPr/>
          <p:nvPr/>
        </p:nvSpPr>
        <p:spPr>
          <a:xfrm>
            <a:off x="4260775" y="164592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10" name="monomer 132"/>
          <p:cNvSpPr/>
          <p:nvPr/>
        </p:nvSpPr>
        <p:spPr>
          <a:xfrm>
            <a:off x="6062362" y="164592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" name="monomer LTR part 133"/>
          <p:cNvSpPr/>
          <p:nvPr/>
        </p:nvSpPr>
        <p:spPr>
          <a:xfrm>
            <a:off x="6062362" y="164592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12" name="monomer 134"/>
          <p:cNvSpPr/>
          <p:nvPr/>
        </p:nvSpPr>
        <p:spPr>
          <a:xfrm>
            <a:off x="7863950" y="164592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3" name="monomer LTR part 135"/>
          <p:cNvSpPr/>
          <p:nvPr/>
        </p:nvSpPr>
        <p:spPr>
          <a:xfrm>
            <a:off x="7863950" y="164592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14" name="monomer 136"/>
          <p:cNvSpPr/>
          <p:nvPr/>
        </p:nvSpPr>
        <p:spPr>
          <a:xfrm>
            <a:off x="9665537" y="164592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5" name="monomer LTR part 137"/>
          <p:cNvSpPr/>
          <p:nvPr/>
        </p:nvSpPr>
        <p:spPr>
          <a:xfrm>
            <a:off x="9665537" y="164592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98587" y="1399032"/>
            <a:ext cx="38331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9E73"/>
                </a:solidFill>
              </a:rPr>
              <a:t>monomer = LTR + internal region</a:t>
            </a:r>
            <a:endParaRPr lang="en-US" sz="1200" dirty="0"/>
          </a:p>
        </p:txBody>
      </p:sp>
      <p:sp>
        <p:nvSpPr>
          <p:cNvPr id="17" name="genome 138"/>
          <p:cNvSpPr/>
          <p:nvPr/>
        </p:nvSpPr>
        <p:spPr>
          <a:xfrm>
            <a:off x="2148840" y="239115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-7772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DANTE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domains</a:t>
            </a:r>
            <a:endParaRPr lang="en-US" sz="1400" dirty="0"/>
          </a:p>
        </p:txBody>
      </p:sp>
      <p:sp>
        <p:nvSpPr>
          <p:cNvPr id="19" name="domain 139"/>
          <p:cNvSpPr/>
          <p:nvPr/>
        </p:nvSpPr>
        <p:spPr>
          <a:xfrm>
            <a:off x="2857975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0" name="domain 140"/>
          <p:cNvSpPr/>
          <p:nvPr/>
        </p:nvSpPr>
        <p:spPr>
          <a:xfrm>
            <a:off x="3298789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1" name="domain 141"/>
          <p:cNvSpPr/>
          <p:nvPr/>
        </p:nvSpPr>
        <p:spPr>
          <a:xfrm>
            <a:off x="3739603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2" name="domain 142"/>
          <p:cNvSpPr/>
          <p:nvPr/>
        </p:nvSpPr>
        <p:spPr>
          <a:xfrm>
            <a:off x="4659563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3" name="domain 143"/>
          <p:cNvSpPr/>
          <p:nvPr/>
        </p:nvSpPr>
        <p:spPr>
          <a:xfrm>
            <a:off x="5100377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4" name="domain 144"/>
          <p:cNvSpPr/>
          <p:nvPr/>
        </p:nvSpPr>
        <p:spPr>
          <a:xfrm>
            <a:off x="5541191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5" name="domain 145"/>
          <p:cNvSpPr/>
          <p:nvPr/>
        </p:nvSpPr>
        <p:spPr>
          <a:xfrm>
            <a:off x="6461150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6" name="domain 146"/>
          <p:cNvSpPr/>
          <p:nvPr/>
        </p:nvSpPr>
        <p:spPr>
          <a:xfrm>
            <a:off x="7342778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7" name="domain 147"/>
          <p:cNvSpPr/>
          <p:nvPr/>
        </p:nvSpPr>
        <p:spPr>
          <a:xfrm>
            <a:off x="8262738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8" name="domain 148"/>
          <p:cNvSpPr/>
          <p:nvPr/>
        </p:nvSpPr>
        <p:spPr>
          <a:xfrm>
            <a:off x="8703552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29" name="domain 149"/>
          <p:cNvSpPr/>
          <p:nvPr/>
        </p:nvSpPr>
        <p:spPr>
          <a:xfrm>
            <a:off x="9144366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0" name="domain 150"/>
          <p:cNvSpPr/>
          <p:nvPr/>
        </p:nvSpPr>
        <p:spPr>
          <a:xfrm>
            <a:off x="10505139" y="2331720"/>
            <a:ext cx="373734" cy="182880"/>
          </a:xfrm>
          <a:prstGeom prst="homePlate">
            <a:avLst/>
          </a:prstGeom>
          <a:solidFill>
            <a:srgbClr val="0072B2">
              <a:alpha val="6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1" name="genome 151"/>
          <p:cNvSpPr/>
          <p:nvPr/>
        </p:nvSpPr>
        <p:spPr>
          <a:xfrm>
            <a:off x="2148840" y="303123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-777240" y="2788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DANTE_LTR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complete copies</a:t>
            </a:r>
            <a:endParaRPr lang="en-US" sz="1400" dirty="0"/>
          </a:p>
        </p:txBody>
      </p:sp>
      <p:sp>
        <p:nvSpPr>
          <p:cNvPr id="33" name="LTR-RT body 152"/>
          <p:cNvSpPr/>
          <p:nvPr/>
        </p:nvSpPr>
        <p:spPr>
          <a:xfrm>
            <a:off x="2436327" y="2788920"/>
            <a:ext cx="2108241" cy="237744"/>
          </a:xfrm>
          <a:prstGeom prst="roundRect">
            <a:avLst>
              <a:gd name="adj" fmla="val 19231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34" name="LTR 153"/>
          <p:cNvSpPr/>
          <p:nvPr/>
        </p:nvSpPr>
        <p:spPr>
          <a:xfrm>
            <a:off x="2436327" y="2788920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35" name="LTR 154"/>
          <p:cNvSpPr/>
          <p:nvPr/>
        </p:nvSpPr>
        <p:spPr>
          <a:xfrm>
            <a:off x="4237915" y="2788920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36" name="LTR-RT body 155"/>
          <p:cNvSpPr/>
          <p:nvPr/>
        </p:nvSpPr>
        <p:spPr>
          <a:xfrm>
            <a:off x="4237915" y="3099816"/>
            <a:ext cx="2108241" cy="237744"/>
          </a:xfrm>
          <a:prstGeom prst="roundRect">
            <a:avLst>
              <a:gd name="adj" fmla="val 19231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37" name="LTR 156"/>
          <p:cNvSpPr/>
          <p:nvPr/>
        </p:nvSpPr>
        <p:spPr>
          <a:xfrm>
            <a:off x="4237915" y="3099816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38" name="LTR 157"/>
          <p:cNvSpPr/>
          <p:nvPr/>
        </p:nvSpPr>
        <p:spPr>
          <a:xfrm>
            <a:off x="6039502" y="3099816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39" name="LTR-RT body 158"/>
          <p:cNvSpPr/>
          <p:nvPr/>
        </p:nvSpPr>
        <p:spPr>
          <a:xfrm>
            <a:off x="7841090" y="2944368"/>
            <a:ext cx="2108241" cy="237744"/>
          </a:xfrm>
          <a:prstGeom prst="roundRect">
            <a:avLst>
              <a:gd name="adj" fmla="val 19231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40" name="LTR 159"/>
          <p:cNvSpPr/>
          <p:nvPr/>
        </p:nvSpPr>
        <p:spPr>
          <a:xfrm>
            <a:off x="7841090" y="2944368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41" name="LTR 160"/>
          <p:cNvSpPr/>
          <p:nvPr/>
        </p:nvSpPr>
        <p:spPr>
          <a:xfrm>
            <a:off x="9642677" y="2944368"/>
            <a:ext cx="306653" cy="237744"/>
          </a:xfrm>
          <a:prstGeom prst="roundRect">
            <a:avLst>
              <a:gd name="adj" fmla="val 19231"/>
            </a:avLst>
          </a:prstGeom>
          <a:solidFill>
            <a:srgbClr val="003F6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436327" y="33924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72B2"/>
                </a:solidFill>
              </a:rPr>
              <a:t>2 copies sharing an LTR = LTR_RT_TR container</a:t>
            </a:r>
            <a:endParaRPr lang="en-US" sz="1200" dirty="0"/>
          </a:p>
        </p:txBody>
      </p:sp>
      <p:sp>
        <p:nvSpPr>
          <p:cNvPr id="43" name="arrow 161"/>
          <p:cNvSpPr/>
          <p:nvPr/>
        </p:nvSpPr>
        <p:spPr>
          <a:xfrm>
            <a:off x="6940296" y="3749040"/>
            <a:ext cx="0" cy="36576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44" name="divider 162"/>
          <p:cNvSpPr/>
          <p:nvPr/>
        </p:nvSpPr>
        <p:spPr>
          <a:xfrm>
            <a:off x="457200" y="4224528"/>
            <a:ext cx="112745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45" name="genome 163"/>
          <p:cNvSpPr/>
          <p:nvPr/>
        </p:nvSpPr>
        <p:spPr>
          <a:xfrm>
            <a:off x="2148840" y="476859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-77724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1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unified</a:t>
            </a:r>
            <a:endParaRPr lang="en-US" sz="1400" dirty="0"/>
          </a:p>
        </p:txBody>
      </p:sp>
      <p:sp>
        <p:nvSpPr>
          <p:cNvPr id="47" name="monomer 164"/>
          <p:cNvSpPr/>
          <p:nvPr/>
        </p:nvSpPr>
        <p:spPr>
          <a:xfrm>
            <a:off x="2459187" y="466344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8" name="monomer LTR part 165"/>
          <p:cNvSpPr/>
          <p:nvPr/>
        </p:nvSpPr>
        <p:spPr>
          <a:xfrm>
            <a:off x="2459187" y="466344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49" name="monomer 166"/>
          <p:cNvSpPr/>
          <p:nvPr/>
        </p:nvSpPr>
        <p:spPr>
          <a:xfrm>
            <a:off x="4260775" y="466344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0" name="monomer LTR part 167"/>
          <p:cNvSpPr/>
          <p:nvPr/>
        </p:nvSpPr>
        <p:spPr>
          <a:xfrm>
            <a:off x="4260775" y="466344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51" name="monomer 168"/>
          <p:cNvSpPr/>
          <p:nvPr/>
        </p:nvSpPr>
        <p:spPr>
          <a:xfrm>
            <a:off x="6062362" y="466344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2" name="monomer LTR part 169"/>
          <p:cNvSpPr/>
          <p:nvPr/>
        </p:nvSpPr>
        <p:spPr>
          <a:xfrm>
            <a:off x="6062362" y="466344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53" name="monomer 170"/>
          <p:cNvSpPr/>
          <p:nvPr/>
        </p:nvSpPr>
        <p:spPr>
          <a:xfrm>
            <a:off x="7863950" y="466344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4" name="monomer LTR part 171"/>
          <p:cNvSpPr/>
          <p:nvPr/>
        </p:nvSpPr>
        <p:spPr>
          <a:xfrm>
            <a:off x="7863950" y="466344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55" name="monomer 172"/>
          <p:cNvSpPr/>
          <p:nvPr/>
        </p:nvSpPr>
        <p:spPr>
          <a:xfrm>
            <a:off x="9665537" y="4663440"/>
            <a:ext cx="1755867" cy="274320"/>
          </a:xfrm>
          <a:prstGeom prst="roundRect">
            <a:avLst>
              <a:gd name="adj" fmla="val 16667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6" name="monomer LTR part 173"/>
          <p:cNvSpPr/>
          <p:nvPr/>
        </p:nvSpPr>
        <p:spPr>
          <a:xfrm>
            <a:off x="9665537" y="4663440"/>
            <a:ext cx="306653" cy="274320"/>
          </a:xfrm>
          <a:prstGeom prst="roundRect">
            <a:avLst>
              <a:gd name="adj" fmla="val 16667"/>
            </a:avLst>
          </a:prstGeom>
          <a:solidFill>
            <a:srgbClr val="00573F"/>
          </a:solidFill>
          <a:ln/>
        </p:spPr>
      </p:sp>
      <p:sp>
        <p:nvSpPr>
          <p:cNvPr id="57" name="annotation label 174"/>
          <p:cNvSpPr txBox="1"/>
          <p:nvPr/>
        </p:nvSpPr>
        <p:spPr>
          <a:xfrm>
            <a:off x="2436327" y="4325112"/>
            <a:ext cx="9007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annotated as  </a:t>
            </a:r>
            <a:pPr algn="ctr" indent="0" marL="0">
              <a:buNone/>
            </a:pPr>
            <a:r>
              <a:rPr lang="en-US" sz="1300" b="1" dirty="0">
                <a:solidFill>
                  <a:srgbClr val="14304A"/>
                </a:solidFill>
              </a:rPr>
              <a:t>TRC_&lt;n&gt;  tandem repeat</a:t>
            </a:r>
            <a:pPr algn="ctr" indent="0" marL="0">
              <a:buNone/>
            </a:pPr>
            <a:r>
              <a:rPr lang="en-US" sz="1300" dirty="0">
                <a:solidFill>
                  <a:srgbClr val="5F6E7A"/>
                </a:solidFill>
              </a:rPr>
              <a:t>  of LTR-RT origin (TE_origin = Class_I/LTR/Ty3_gypsy/…)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Not shown in the unified file: </a:t>
            </a:r>
            <a:pPr indent="0" marL="0">
              <a:buNone/>
            </a:pPr>
            <a:r>
              <a:rPr lang="en-US" sz="1400" dirty="0">
                <a:solidFill>
                  <a:srgbClr val="5F6E7A"/>
                </a:solidFill>
              </a:rPr>
              <a:t>the LTR-RT calls and the container. They stay in DANTE_LTR.gff3. Degraded copies have lost some domains, but domains still occur in most periods.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LTR-RT inserted into a satellite: the element wins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Domains occur once, not once per period, so this is an insertion, not a TE-derived tandem. The satellite is split around it.</a:t>
            </a:r>
            <a:endParaRPr lang="en-US" sz="1600" dirty="0"/>
          </a:p>
        </p:txBody>
      </p:sp>
      <p:sp>
        <p:nvSpPr>
          <p:cNvPr id="4" name="genome 175"/>
          <p:cNvSpPr/>
          <p:nvPr/>
        </p:nvSpPr>
        <p:spPr>
          <a:xfrm>
            <a:off x="2148840" y="197967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-77724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TideCluster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one array</a:t>
            </a:r>
            <a:endParaRPr lang="en-US" sz="1400" dirty="0"/>
          </a:p>
        </p:txBody>
      </p:sp>
      <p:sp>
        <p:nvSpPr>
          <p:cNvPr id="6" name="monomer 176"/>
          <p:cNvSpPr/>
          <p:nvPr/>
        </p:nvSpPr>
        <p:spPr>
          <a:xfrm>
            <a:off x="236335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" name="monomer 177"/>
          <p:cNvSpPr/>
          <p:nvPr/>
        </p:nvSpPr>
        <p:spPr>
          <a:xfrm>
            <a:off x="259334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" name="monomer 178"/>
          <p:cNvSpPr/>
          <p:nvPr/>
        </p:nvSpPr>
        <p:spPr>
          <a:xfrm>
            <a:off x="282333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9" name="monomer 179"/>
          <p:cNvSpPr/>
          <p:nvPr/>
        </p:nvSpPr>
        <p:spPr>
          <a:xfrm>
            <a:off x="305332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" name="monomer 180"/>
          <p:cNvSpPr/>
          <p:nvPr/>
        </p:nvSpPr>
        <p:spPr>
          <a:xfrm>
            <a:off x="328331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" name="monomer 181"/>
          <p:cNvSpPr/>
          <p:nvPr/>
        </p:nvSpPr>
        <p:spPr>
          <a:xfrm>
            <a:off x="351330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2" name="monomer 182"/>
          <p:cNvSpPr/>
          <p:nvPr/>
        </p:nvSpPr>
        <p:spPr>
          <a:xfrm>
            <a:off x="3743298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3" name="monomer 183"/>
          <p:cNvSpPr/>
          <p:nvPr/>
        </p:nvSpPr>
        <p:spPr>
          <a:xfrm>
            <a:off x="397328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4" name="monomer 184"/>
          <p:cNvSpPr/>
          <p:nvPr/>
        </p:nvSpPr>
        <p:spPr>
          <a:xfrm>
            <a:off x="420327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5" name="monomer 185"/>
          <p:cNvSpPr/>
          <p:nvPr/>
        </p:nvSpPr>
        <p:spPr>
          <a:xfrm>
            <a:off x="443326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6" name="monomer 186"/>
          <p:cNvSpPr/>
          <p:nvPr/>
        </p:nvSpPr>
        <p:spPr>
          <a:xfrm>
            <a:off x="466325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7" name="monomer 187"/>
          <p:cNvSpPr/>
          <p:nvPr/>
        </p:nvSpPr>
        <p:spPr>
          <a:xfrm>
            <a:off x="489324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8" name="monomer 188"/>
          <p:cNvSpPr/>
          <p:nvPr/>
        </p:nvSpPr>
        <p:spPr>
          <a:xfrm>
            <a:off x="512323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9" name="monomer 189"/>
          <p:cNvSpPr/>
          <p:nvPr/>
        </p:nvSpPr>
        <p:spPr>
          <a:xfrm>
            <a:off x="535322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0" name="monomer 190"/>
          <p:cNvSpPr/>
          <p:nvPr/>
        </p:nvSpPr>
        <p:spPr>
          <a:xfrm>
            <a:off x="558321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1" name="monomer 191"/>
          <p:cNvSpPr/>
          <p:nvPr/>
        </p:nvSpPr>
        <p:spPr>
          <a:xfrm>
            <a:off x="5813207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2" name="monomer 192"/>
          <p:cNvSpPr/>
          <p:nvPr/>
        </p:nvSpPr>
        <p:spPr>
          <a:xfrm>
            <a:off x="604319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3" name="monomer 193"/>
          <p:cNvSpPr/>
          <p:nvPr/>
        </p:nvSpPr>
        <p:spPr>
          <a:xfrm>
            <a:off x="627318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4" name="monomer 194"/>
          <p:cNvSpPr/>
          <p:nvPr/>
        </p:nvSpPr>
        <p:spPr>
          <a:xfrm>
            <a:off x="650317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5" name="monomer 195"/>
          <p:cNvSpPr/>
          <p:nvPr/>
        </p:nvSpPr>
        <p:spPr>
          <a:xfrm>
            <a:off x="673316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6" name="monomer 196"/>
          <p:cNvSpPr/>
          <p:nvPr/>
        </p:nvSpPr>
        <p:spPr>
          <a:xfrm>
            <a:off x="696315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7" name="monomer 197"/>
          <p:cNvSpPr/>
          <p:nvPr/>
        </p:nvSpPr>
        <p:spPr>
          <a:xfrm>
            <a:off x="719314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8" name="monomer 198"/>
          <p:cNvSpPr/>
          <p:nvPr/>
        </p:nvSpPr>
        <p:spPr>
          <a:xfrm>
            <a:off x="742313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9" name="monomer 199"/>
          <p:cNvSpPr/>
          <p:nvPr/>
        </p:nvSpPr>
        <p:spPr>
          <a:xfrm>
            <a:off x="765312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0" name="monomer 200"/>
          <p:cNvSpPr/>
          <p:nvPr/>
        </p:nvSpPr>
        <p:spPr>
          <a:xfrm>
            <a:off x="7883116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1" name="monomer 201"/>
          <p:cNvSpPr/>
          <p:nvPr/>
        </p:nvSpPr>
        <p:spPr>
          <a:xfrm>
            <a:off x="811310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2" name="monomer 202"/>
          <p:cNvSpPr/>
          <p:nvPr/>
        </p:nvSpPr>
        <p:spPr>
          <a:xfrm>
            <a:off x="834309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3" name="monomer 203"/>
          <p:cNvSpPr/>
          <p:nvPr/>
        </p:nvSpPr>
        <p:spPr>
          <a:xfrm>
            <a:off x="857308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4" name="monomer 204"/>
          <p:cNvSpPr/>
          <p:nvPr/>
        </p:nvSpPr>
        <p:spPr>
          <a:xfrm>
            <a:off x="880307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5" name="monomer 205"/>
          <p:cNvSpPr/>
          <p:nvPr/>
        </p:nvSpPr>
        <p:spPr>
          <a:xfrm>
            <a:off x="903306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6" name="monomer 206"/>
          <p:cNvSpPr/>
          <p:nvPr/>
        </p:nvSpPr>
        <p:spPr>
          <a:xfrm>
            <a:off x="926305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7" name="monomer 207"/>
          <p:cNvSpPr/>
          <p:nvPr/>
        </p:nvSpPr>
        <p:spPr>
          <a:xfrm>
            <a:off x="949304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8" name="monomer 208"/>
          <p:cNvSpPr/>
          <p:nvPr/>
        </p:nvSpPr>
        <p:spPr>
          <a:xfrm>
            <a:off x="972303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9" name="monomer 209"/>
          <p:cNvSpPr/>
          <p:nvPr/>
        </p:nvSpPr>
        <p:spPr>
          <a:xfrm>
            <a:off x="9953025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0" name="monomer 210"/>
          <p:cNvSpPr/>
          <p:nvPr/>
        </p:nvSpPr>
        <p:spPr>
          <a:xfrm>
            <a:off x="1018301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1" name="monomer 211"/>
          <p:cNvSpPr/>
          <p:nvPr/>
        </p:nvSpPr>
        <p:spPr>
          <a:xfrm>
            <a:off x="1041300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2" name="monomer 212"/>
          <p:cNvSpPr/>
          <p:nvPr/>
        </p:nvSpPr>
        <p:spPr>
          <a:xfrm>
            <a:off x="1064299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3" name="monomer 213"/>
          <p:cNvSpPr/>
          <p:nvPr/>
        </p:nvSpPr>
        <p:spPr>
          <a:xfrm>
            <a:off x="1087298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4" name="monomer 214"/>
          <p:cNvSpPr/>
          <p:nvPr/>
        </p:nvSpPr>
        <p:spPr>
          <a:xfrm>
            <a:off x="1110297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5" name="monomer 215"/>
          <p:cNvSpPr/>
          <p:nvPr/>
        </p:nvSpPr>
        <p:spPr>
          <a:xfrm>
            <a:off x="11332964" y="1874520"/>
            <a:ext cx="184270" cy="274320"/>
          </a:xfrm>
          <a:prstGeom prst="roundRect">
            <a:avLst>
              <a:gd name="adj" fmla="val 2481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6" name="genome 216"/>
          <p:cNvSpPr/>
          <p:nvPr/>
        </p:nvSpPr>
        <p:spPr>
          <a:xfrm>
            <a:off x="2148840" y="280263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-77724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DANTE_LTR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complete element</a:t>
            </a:r>
            <a:endParaRPr lang="en-US" sz="1400" dirty="0"/>
          </a:p>
        </p:txBody>
      </p:sp>
      <p:sp>
        <p:nvSpPr>
          <p:cNvPr id="48" name="LTR-RT body 217"/>
          <p:cNvSpPr/>
          <p:nvPr/>
        </p:nvSpPr>
        <p:spPr>
          <a:xfrm>
            <a:off x="5598688" y="2697480"/>
            <a:ext cx="3066532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49" name="LTR 218"/>
          <p:cNvSpPr/>
          <p:nvPr/>
        </p:nvSpPr>
        <p:spPr>
          <a:xfrm>
            <a:off x="5598688" y="2697480"/>
            <a:ext cx="287487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50" name="LTR 219"/>
          <p:cNvSpPr/>
          <p:nvPr/>
        </p:nvSpPr>
        <p:spPr>
          <a:xfrm>
            <a:off x="8377733" y="2697480"/>
            <a:ext cx="287487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51" name="domain 220"/>
          <p:cNvSpPr/>
          <p:nvPr/>
        </p:nvSpPr>
        <p:spPr>
          <a:xfrm>
            <a:off x="6077834" y="2761488"/>
            <a:ext cx="479146" cy="146304"/>
          </a:xfrm>
          <a:prstGeom prst="homePlat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domain 221"/>
          <p:cNvSpPr/>
          <p:nvPr/>
        </p:nvSpPr>
        <p:spPr>
          <a:xfrm>
            <a:off x="6671974" y="2761488"/>
            <a:ext cx="479146" cy="146304"/>
          </a:xfrm>
          <a:prstGeom prst="homePlat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domain 222"/>
          <p:cNvSpPr/>
          <p:nvPr/>
        </p:nvSpPr>
        <p:spPr>
          <a:xfrm>
            <a:off x="7266115" y="2761488"/>
            <a:ext cx="479146" cy="146304"/>
          </a:xfrm>
          <a:prstGeom prst="homePlat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domain 223"/>
          <p:cNvSpPr/>
          <p:nvPr/>
        </p:nvSpPr>
        <p:spPr>
          <a:xfrm>
            <a:off x="7860256" y="2761488"/>
            <a:ext cx="479146" cy="146304"/>
          </a:xfrm>
          <a:prstGeom prst="homePlat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arrow 224"/>
          <p:cNvSpPr/>
          <p:nvPr/>
        </p:nvSpPr>
        <p:spPr>
          <a:xfrm>
            <a:off x="6940296" y="3291840"/>
            <a:ext cx="0" cy="41148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56" name="divider 225"/>
          <p:cNvSpPr/>
          <p:nvPr/>
        </p:nvSpPr>
        <p:spPr>
          <a:xfrm>
            <a:off x="457200" y="3813048"/>
            <a:ext cx="112745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57" name="genome 226"/>
          <p:cNvSpPr/>
          <p:nvPr/>
        </p:nvSpPr>
        <p:spPr>
          <a:xfrm>
            <a:off x="2148840" y="435711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-777240" y="4114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1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unified</a:t>
            </a:r>
            <a:endParaRPr lang="en-US" sz="1400" dirty="0"/>
          </a:p>
        </p:txBody>
      </p:sp>
      <p:sp>
        <p:nvSpPr>
          <p:cNvPr id="59" name="monomer 227"/>
          <p:cNvSpPr/>
          <p:nvPr/>
        </p:nvSpPr>
        <p:spPr>
          <a:xfrm>
            <a:off x="2363358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0" name="monomer 228"/>
          <p:cNvSpPr/>
          <p:nvPr/>
        </p:nvSpPr>
        <p:spPr>
          <a:xfrm>
            <a:off x="2596086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1" name="monomer 229"/>
          <p:cNvSpPr/>
          <p:nvPr/>
        </p:nvSpPr>
        <p:spPr>
          <a:xfrm>
            <a:off x="2828814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2" name="monomer 230"/>
          <p:cNvSpPr/>
          <p:nvPr/>
        </p:nvSpPr>
        <p:spPr>
          <a:xfrm>
            <a:off x="3061542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3" name="monomer 231"/>
          <p:cNvSpPr/>
          <p:nvPr/>
        </p:nvSpPr>
        <p:spPr>
          <a:xfrm>
            <a:off x="3294270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4" name="monomer 232"/>
          <p:cNvSpPr/>
          <p:nvPr/>
        </p:nvSpPr>
        <p:spPr>
          <a:xfrm>
            <a:off x="3526998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5" name="monomer 233"/>
          <p:cNvSpPr/>
          <p:nvPr/>
        </p:nvSpPr>
        <p:spPr>
          <a:xfrm>
            <a:off x="3759725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6" name="monomer 234"/>
          <p:cNvSpPr/>
          <p:nvPr/>
        </p:nvSpPr>
        <p:spPr>
          <a:xfrm>
            <a:off x="3992453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7" name="monomer 235"/>
          <p:cNvSpPr/>
          <p:nvPr/>
        </p:nvSpPr>
        <p:spPr>
          <a:xfrm>
            <a:off x="4225181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8" name="monomer 236"/>
          <p:cNvSpPr/>
          <p:nvPr/>
        </p:nvSpPr>
        <p:spPr>
          <a:xfrm>
            <a:off x="4457909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9" name="monomer 237"/>
          <p:cNvSpPr/>
          <p:nvPr/>
        </p:nvSpPr>
        <p:spPr>
          <a:xfrm>
            <a:off x="4690637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0" name="monomer 238"/>
          <p:cNvSpPr/>
          <p:nvPr/>
        </p:nvSpPr>
        <p:spPr>
          <a:xfrm>
            <a:off x="4923365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1" name="monomer 239"/>
          <p:cNvSpPr/>
          <p:nvPr/>
        </p:nvSpPr>
        <p:spPr>
          <a:xfrm>
            <a:off x="5156093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2" name="monomer 240"/>
          <p:cNvSpPr/>
          <p:nvPr/>
        </p:nvSpPr>
        <p:spPr>
          <a:xfrm>
            <a:off x="5388820" y="4251960"/>
            <a:ext cx="187008" cy="274320"/>
          </a:xfrm>
          <a:prstGeom prst="roundRect">
            <a:avLst>
              <a:gd name="adj" fmla="val 24448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3" name="LTR-RT body 241"/>
          <p:cNvSpPr/>
          <p:nvPr/>
        </p:nvSpPr>
        <p:spPr>
          <a:xfrm>
            <a:off x="5598688" y="4251960"/>
            <a:ext cx="3066532" cy="274320"/>
          </a:xfrm>
          <a:prstGeom prst="roundRect">
            <a:avLst>
              <a:gd name="adj" fmla="val 16667"/>
            </a:avLst>
          </a:prstGeom>
          <a:solidFill>
            <a:srgbClr val="0072B2">
              <a:alpha val="82000"/>
            </a:srgbClr>
          </a:solidFill>
          <a:ln w="15875">
            <a:solidFill>
              <a:srgbClr val="0072B2"/>
            </a:solidFill>
            <a:prstDash val="solid"/>
          </a:ln>
        </p:spPr>
      </p:sp>
      <p:sp>
        <p:nvSpPr>
          <p:cNvPr id="74" name="LTR 242"/>
          <p:cNvSpPr/>
          <p:nvPr/>
        </p:nvSpPr>
        <p:spPr>
          <a:xfrm>
            <a:off x="5598688" y="4251960"/>
            <a:ext cx="287487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75" name="LTR 243"/>
          <p:cNvSpPr/>
          <p:nvPr/>
        </p:nvSpPr>
        <p:spPr>
          <a:xfrm>
            <a:off x="8377733" y="4251960"/>
            <a:ext cx="287487" cy="274320"/>
          </a:xfrm>
          <a:prstGeom prst="roundRect">
            <a:avLst>
              <a:gd name="adj" fmla="val 16667"/>
            </a:avLst>
          </a:prstGeom>
          <a:solidFill>
            <a:srgbClr val="003F63"/>
          </a:solidFill>
          <a:ln/>
        </p:spPr>
      </p:sp>
      <p:sp>
        <p:nvSpPr>
          <p:cNvPr id="76" name="monomer 244"/>
          <p:cNvSpPr/>
          <p:nvPr/>
        </p:nvSpPr>
        <p:spPr>
          <a:xfrm>
            <a:off x="8688080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7" name="monomer 245"/>
          <p:cNvSpPr/>
          <p:nvPr/>
        </p:nvSpPr>
        <p:spPr>
          <a:xfrm>
            <a:off x="8927653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8" name="monomer 246"/>
          <p:cNvSpPr/>
          <p:nvPr/>
        </p:nvSpPr>
        <p:spPr>
          <a:xfrm>
            <a:off x="9167226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9" name="monomer 247"/>
          <p:cNvSpPr/>
          <p:nvPr/>
        </p:nvSpPr>
        <p:spPr>
          <a:xfrm>
            <a:off x="9406799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0" name="monomer 248"/>
          <p:cNvSpPr/>
          <p:nvPr/>
        </p:nvSpPr>
        <p:spPr>
          <a:xfrm>
            <a:off x="9646371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1" name="monomer 249"/>
          <p:cNvSpPr/>
          <p:nvPr/>
        </p:nvSpPr>
        <p:spPr>
          <a:xfrm>
            <a:off x="9885944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2" name="monomer 250"/>
          <p:cNvSpPr/>
          <p:nvPr/>
        </p:nvSpPr>
        <p:spPr>
          <a:xfrm>
            <a:off x="10125517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3" name="monomer 251"/>
          <p:cNvSpPr/>
          <p:nvPr/>
        </p:nvSpPr>
        <p:spPr>
          <a:xfrm>
            <a:off x="10365090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4" name="monomer 252"/>
          <p:cNvSpPr/>
          <p:nvPr/>
        </p:nvSpPr>
        <p:spPr>
          <a:xfrm>
            <a:off x="10604663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5" name="monomer 253"/>
          <p:cNvSpPr/>
          <p:nvPr/>
        </p:nvSpPr>
        <p:spPr>
          <a:xfrm>
            <a:off x="10844235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6" name="monomer 254"/>
          <p:cNvSpPr/>
          <p:nvPr/>
        </p:nvSpPr>
        <p:spPr>
          <a:xfrm>
            <a:off x="11083808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7" name="monomer 255"/>
          <p:cNvSpPr/>
          <p:nvPr/>
        </p:nvSpPr>
        <p:spPr>
          <a:xfrm>
            <a:off x="11323381" y="4251960"/>
            <a:ext cx="193853" cy="274320"/>
          </a:xfrm>
          <a:prstGeom prst="roundRect">
            <a:avLst>
              <a:gd name="adj" fmla="val 23585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340498" y="4663440"/>
            <a:ext cx="3258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E73"/>
                </a:solidFill>
              </a:rPr>
              <a:t>TRC_&lt;n&gt;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8665220" y="4663440"/>
            <a:ext cx="2874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9E73"/>
                </a:solidFill>
              </a:rPr>
              <a:t>TRC_&lt;n&gt;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457200" y="51663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7A"/>
                </a:solidFill>
              </a:rPr>
              <a:t>The same rule applies to any structural element (TIR, LINE) or protein domain inside an array.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Satellite-library hit vs TE hit: tandem evidence decides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tier-4 hit outranks a TE hit only where TideHunter confirms a real tandem. Otherwise the TE hit wins.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436327" y="1463040"/>
            <a:ext cx="4216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</a:rPr>
              <a:t>tandem confirmed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227783" y="1463040"/>
            <a:ext cx="4216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A"/>
                </a:solidFill>
              </a:rPr>
              <a:t>no tandem evidence</a:t>
            </a:r>
            <a:endParaRPr lang="en-US" sz="1500" dirty="0"/>
          </a:p>
        </p:txBody>
      </p:sp>
      <p:sp>
        <p:nvSpPr>
          <p:cNvPr id="6" name="divider 256"/>
          <p:cNvSpPr/>
          <p:nvPr/>
        </p:nvSpPr>
        <p:spPr>
          <a:xfrm>
            <a:off x="6940296" y="1463040"/>
            <a:ext cx="0" cy="3337560"/>
          </a:xfrm>
          <a:prstGeom prst="line">
            <a:avLst/>
          </a:prstGeom>
          <a:noFill/>
          <a:ln w="12700">
            <a:solidFill>
              <a:srgbClr val="DDE2E7"/>
            </a:solidFill>
            <a:prstDash val="dash"/>
          </a:ln>
        </p:spPr>
      </p:sp>
      <p:sp>
        <p:nvSpPr>
          <p:cNvPr id="7" name="genome 257"/>
          <p:cNvSpPr/>
          <p:nvPr/>
        </p:nvSpPr>
        <p:spPr>
          <a:xfrm>
            <a:off x="2148840" y="207111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-777240" y="1828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RepeatMasker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TideCluster library</a:t>
            </a:r>
            <a:endParaRPr lang="en-US" sz="1400" dirty="0"/>
          </a:p>
        </p:txBody>
      </p:sp>
      <p:sp>
        <p:nvSpPr>
          <p:cNvPr id="9" name="monomer 258"/>
          <p:cNvSpPr/>
          <p:nvPr/>
        </p:nvSpPr>
        <p:spPr>
          <a:xfrm>
            <a:off x="2746675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0" name="monomer 259"/>
          <p:cNvSpPr/>
          <p:nvPr/>
        </p:nvSpPr>
        <p:spPr>
          <a:xfrm>
            <a:off x="3006782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1" name="monomer 260"/>
          <p:cNvSpPr/>
          <p:nvPr/>
        </p:nvSpPr>
        <p:spPr>
          <a:xfrm>
            <a:off x="3266890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2" name="monomer 261"/>
          <p:cNvSpPr/>
          <p:nvPr/>
        </p:nvSpPr>
        <p:spPr>
          <a:xfrm>
            <a:off x="3526998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3" name="monomer 262"/>
          <p:cNvSpPr/>
          <p:nvPr/>
        </p:nvSpPr>
        <p:spPr>
          <a:xfrm>
            <a:off x="3787105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4" name="monomer 263"/>
          <p:cNvSpPr/>
          <p:nvPr/>
        </p:nvSpPr>
        <p:spPr>
          <a:xfrm>
            <a:off x="4047213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5" name="monomer 264"/>
          <p:cNvSpPr/>
          <p:nvPr/>
        </p:nvSpPr>
        <p:spPr>
          <a:xfrm>
            <a:off x="4307320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6" name="monomer 265"/>
          <p:cNvSpPr/>
          <p:nvPr/>
        </p:nvSpPr>
        <p:spPr>
          <a:xfrm>
            <a:off x="4567428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7" name="monomer 266"/>
          <p:cNvSpPr/>
          <p:nvPr/>
        </p:nvSpPr>
        <p:spPr>
          <a:xfrm>
            <a:off x="4827536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8" name="monomer 267"/>
          <p:cNvSpPr/>
          <p:nvPr/>
        </p:nvSpPr>
        <p:spPr>
          <a:xfrm>
            <a:off x="5087643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19" name="monomer 268"/>
          <p:cNvSpPr/>
          <p:nvPr/>
        </p:nvSpPr>
        <p:spPr>
          <a:xfrm>
            <a:off x="5347751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0" name="monomer 269"/>
          <p:cNvSpPr/>
          <p:nvPr/>
        </p:nvSpPr>
        <p:spPr>
          <a:xfrm>
            <a:off x="5607858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1" name="monomer 270"/>
          <p:cNvSpPr/>
          <p:nvPr/>
        </p:nvSpPr>
        <p:spPr>
          <a:xfrm>
            <a:off x="5867966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2" name="monomer 271"/>
          <p:cNvSpPr/>
          <p:nvPr/>
        </p:nvSpPr>
        <p:spPr>
          <a:xfrm>
            <a:off x="6128074" y="198424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3" name="monomer 272"/>
          <p:cNvSpPr/>
          <p:nvPr/>
        </p:nvSpPr>
        <p:spPr>
          <a:xfrm>
            <a:off x="8304764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4" name="monomer 273"/>
          <p:cNvSpPr/>
          <p:nvPr/>
        </p:nvSpPr>
        <p:spPr>
          <a:xfrm>
            <a:off x="8605941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5" name="monomer 274"/>
          <p:cNvSpPr/>
          <p:nvPr/>
        </p:nvSpPr>
        <p:spPr>
          <a:xfrm>
            <a:off x="8907118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6" name="monomer 275"/>
          <p:cNvSpPr/>
          <p:nvPr/>
        </p:nvSpPr>
        <p:spPr>
          <a:xfrm>
            <a:off x="9208295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7" name="monomer 276"/>
          <p:cNvSpPr/>
          <p:nvPr/>
        </p:nvSpPr>
        <p:spPr>
          <a:xfrm>
            <a:off x="9509473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8" name="monomer 277"/>
          <p:cNvSpPr/>
          <p:nvPr/>
        </p:nvSpPr>
        <p:spPr>
          <a:xfrm>
            <a:off x="9810650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29" name="monomer 278"/>
          <p:cNvSpPr/>
          <p:nvPr/>
        </p:nvSpPr>
        <p:spPr>
          <a:xfrm>
            <a:off x="10111827" y="1984248"/>
            <a:ext cx="255457" cy="237744"/>
          </a:xfrm>
          <a:prstGeom prst="roundRect">
            <a:avLst>
              <a:gd name="adj" fmla="val 19231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0" name="genome 279"/>
          <p:cNvSpPr/>
          <p:nvPr/>
        </p:nvSpPr>
        <p:spPr>
          <a:xfrm>
            <a:off x="2148840" y="271119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-77724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RepeatMasker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TE library</a:t>
            </a:r>
            <a:endParaRPr lang="en-US" sz="1400" dirty="0"/>
          </a:p>
        </p:txBody>
      </p:sp>
      <p:sp>
        <p:nvSpPr>
          <p:cNvPr id="32" name="hit 280"/>
          <p:cNvSpPr/>
          <p:nvPr/>
        </p:nvSpPr>
        <p:spPr>
          <a:xfrm>
            <a:off x="3586277" y="2651760"/>
            <a:ext cx="1724924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3" name="hit 281"/>
          <p:cNvSpPr/>
          <p:nvPr/>
        </p:nvSpPr>
        <p:spPr>
          <a:xfrm>
            <a:off x="7419442" y="2651760"/>
            <a:ext cx="3833165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34" name="genome 282"/>
          <p:cNvSpPr/>
          <p:nvPr/>
        </p:nvSpPr>
        <p:spPr>
          <a:xfrm>
            <a:off x="2148840" y="335127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-77724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TideHunter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raw tandems</a:t>
            </a:r>
            <a:endParaRPr lang="en-US" sz="1400" dirty="0"/>
          </a:p>
        </p:txBody>
      </p:sp>
      <p:sp>
        <p:nvSpPr>
          <p:cNvPr id="36" name="monomer (Satellite/Unknown) 283"/>
          <p:cNvSpPr/>
          <p:nvPr/>
        </p:nvSpPr>
        <p:spPr>
          <a:xfrm>
            <a:off x="2746675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7" name="monomer (Satellite/Unknown) 284"/>
          <p:cNvSpPr/>
          <p:nvPr/>
        </p:nvSpPr>
        <p:spPr>
          <a:xfrm>
            <a:off x="3006782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8" name="monomer (Satellite/Unknown) 285"/>
          <p:cNvSpPr/>
          <p:nvPr/>
        </p:nvSpPr>
        <p:spPr>
          <a:xfrm>
            <a:off x="3266890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39" name="monomer (Satellite/Unknown) 286"/>
          <p:cNvSpPr/>
          <p:nvPr/>
        </p:nvSpPr>
        <p:spPr>
          <a:xfrm>
            <a:off x="3526998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0" name="monomer (Satellite/Unknown) 287"/>
          <p:cNvSpPr/>
          <p:nvPr/>
        </p:nvSpPr>
        <p:spPr>
          <a:xfrm>
            <a:off x="3787105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1" name="monomer (Satellite/Unknown) 288"/>
          <p:cNvSpPr/>
          <p:nvPr/>
        </p:nvSpPr>
        <p:spPr>
          <a:xfrm>
            <a:off x="4047213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2" name="monomer (Satellite/Unknown) 289"/>
          <p:cNvSpPr/>
          <p:nvPr/>
        </p:nvSpPr>
        <p:spPr>
          <a:xfrm>
            <a:off x="4307320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3" name="monomer (Satellite/Unknown) 290"/>
          <p:cNvSpPr/>
          <p:nvPr/>
        </p:nvSpPr>
        <p:spPr>
          <a:xfrm>
            <a:off x="4567428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4" name="monomer (Satellite/Unknown) 291"/>
          <p:cNvSpPr/>
          <p:nvPr/>
        </p:nvSpPr>
        <p:spPr>
          <a:xfrm>
            <a:off x="4827536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5" name="monomer (Satellite/Unknown) 292"/>
          <p:cNvSpPr/>
          <p:nvPr/>
        </p:nvSpPr>
        <p:spPr>
          <a:xfrm>
            <a:off x="5087643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6" name="monomer (Satellite/Unknown) 293"/>
          <p:cNvSpPr/>
          <p:nvPr/>
        </p:nvSpPr>
        <p:spPr>
          <a:xfrm>
            <a:off x="5347751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7" name="monomer (Satellite/Unknown) 294"/>
          <p:cNvSpPr/>
          <p:nvPr/>
        </p:nvSpPr>
        <p:spPr>
          <a:xfrm>
            <a:off x="5607858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8" name="monomer (Satellite/Unknown) 295"/>
          <p:cNvSpPr/>
          <p:nvPr/>
        </p:nvSpPr>
        <p:spPr>
          <a:xfrm>
            <a:off x="5867966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49" name="monomer (Satellite/Unknown) 296"/>
          <p:cNvSpPr/>
          <p:nvPr/>
        </p:nvSpPr>
        <p:spPr>
          <a:xfrm>
            <a:off x="6128074" y="3282696"/>
            <a:ext cx="21438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227783" y="3236976"/>
            <a:ext cx="42164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E7A"/>
                </a:solidFill>
              </a:rPr>
              <a:t>none</a:t>
            </a:r>
            <a:endParaRPr lang="en-US" sz="1200" dirty="0"/>
          </a:p>
        </p:txBody>
      </p:sp>
      <p:sp>
        <p:nvSpPr>
          <p:cNvPr id="51" name="arrow 297"/>
          <p:cNvSpPr/>
          <p:nvPr/>
        </p:nvSpPr>
        <p:spPr>
          <a:xfrm>
            <a:off x="4544568" y="3794760"/>
            <a:ext cx="0" cy="36576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52" name="arrow 298"/>
          <p:cNvSpPr/>
          <p:nvPr/>
        </p:nvSpPr>
        <p:spPr>
          <a:xfrm>
            <a:off x="9336024" y="3794760"/>
            <a:ext cx="0" cy="365760"/>
          </a:xfrm>
          <a:prstGeom prst="line">
            <a:avLst/>
          </a:prstGeom>
          <a:noFill/>
          <a:ln w="25400">
            <a:solidFill>
              <a:srgbClr val="14304A"/>
            </a:solidFill>
            <a:prstDash val="solid"/>
            <a:tailEnd type="triangle"/>
          </a:ln>
        </p:spPr>
      </p:sp>
      <p:sp>
        <p:nvSpPr>
          <p:cNvPr id="53" name="divider 299"/>
          <p:cNvSpPr/>
          <p:nvPr/>
        </p:nvSpPr>
        <p:spPr>
          <a:xfrm>
            <a:off x="457200" y="4270248"/>
            <a:ext cx="11274552" cy="0"/>
          </a:xfrm>
          <a:prstGeom prst="line">
            <a:avLst/>
          </a:prstGeom>
          <a:noFill/>
          <a:ln w="12700">
            <a:solidFill>
              <a:srgbClr val="DDE2E7"/>
            </a:solidFill>
            <a:prstDash val="solid"/>
          </a:ln>
        </p:spPr>
      </p:sp>
      <p:sp>
        <p:nvSpPr>
          <p:cNvPr id="54" name="genome 300"/>
          <p:cNvSpPr/>
          <p:nvPr/>
        </p:nvSpPr>
        <p:spPr>
          <a:xfrm>
            <a:off x="2148840" y="4768596"/>
            <a:ext cx="9582912" cy="64008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-77724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304A"/>
                </a:solidFill>
              </a:rPr>
              <a:t>Level 1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E7A"/>
                </a:solidFill>
              </a:rPr>
              <a:t>unified</a:t>
            </a:r>
            <a:endParaRPr lang="en-US" sz="1400" dirty="0"/>
          </a:p>
        </p:txBody>
      </p:sp>
      <p:sp>
        <p:nvSpPr>
          <p:cNvPr id="56" name="monomer 301"/>
          <p:cNvSpPr/>
          <p:nvPr/>
        </p:nvSpPr>
        <p:spPr>
          <a:xfrm>
            <a:off x="2746675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7" name="monomer 302"/>
          <p:cNvSpPr/>
          <p:nvPr/>
        </p:nvSpPr>
        <p:spPr>
          <a:xfrm>
            <a:off x="3006782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8" name="monomer 303"/>
          <p:cNvSpPr/>
          <p:nvPr/>
        </p:nvSpPr>
        <p:spPr>
          <a:xfrm>
            <a:off x="3266890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59" name="monomer 304"/>
          <p:cNvSpPr/>
          <p:nvPr/>
        </p:nvSpPr>
        <p:spPr>
          <a:xfrm>
            <a:off x="3526998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0" name="monomer 305"/>
          <p:cNvSpPr/>
          <p:nvPr/>
        </p:nvSpPr>
        <p:spPr>
          <a:xfrm>
            <a:off x="3787105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1" name="monomer 306"/>
          <p:cNvSpPr/>
          <p:nvPr/>
        </p:nvSpPr>
        <p:spPr>
          <a:xfrm>
            <a:off x="4047213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2" name="monomer 307"/>
          <p:cNvSpPr/>
          <p:nvPr/>
        </p:nvSpPr>
        <p:spPr>
          <a:xfrm>
            <a:off x="4307320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3" name="monomer 308"/>
          <p:cNvSpPr/>
          <p:nvPr/>
        </p:nvSpPr>
        <p:spPr>
          <a:xfrm>
            <a:off x="4567428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4" name="monomer 309"/>
          <p:cNvSpPr/>
          <p:nvPr/>
        </p:nvSpPr>
        <p:spPr>
          <a:xfrm>
            <a:off x="4827536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5" name="monomer 310"/>
          <p:cNvSpPr/>
          <p:nvPr/>
        </p:nvSpPr>
        <p:spPr>
          <a:xfrm>
            <a:off x="5087643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6" name="monomer 311"/>
          <p:cNvSpPr/>
          <p:nvPr/>
        </p:nvSpPr>
        <p:spPr>
          <a:xfrm>
            <a:off x="5347751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7" name="monomer 312"/>
          <p:cNvSpPr/>
          <p:nvPr/>
        </p:nvSpPr>
        <p:spPr>
          <a:xfrm>
            <a:off x="5607858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8" name="monomer 313"/>
          <p:cNvSpPr/>
          <p:nvPr/>
        </p:nvSpPr>
        <p:spPr>
          <a:xfrm>
            <a:off x="5867966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69" name="monomer 314"/>
          <p:cNvSpPr/>
          <p:nvPr/>
        </p:nvSpPr>
        <p:spPr>
          <a:xfrm>
            <a:off x="6128074" y="4681728"/>
            <a:ext cx="214388" cy="237744"/>
          </a:xfrm>
          <a:prstGeom prst="roundRect">
            <a:avLst>
              <a:gd name="adj" fmla="val 21326"/>
            </a:avLst>
          </a:prstGeom>
          <a:solidFill>
            <a:srgbClr val="009E73">
              <a:alpha val="85000"/>
            </a:srgbClr>
          </a:solidFill>
          <a:ln w="12700">
            <a:solidFill>
              <a:srgbClr val="009E73"/>
            </a:solidFill>
            <a:prstDash val="solid"/>
          </a:ln>
        </p:spPr>
      </p:sp>
      <p:sp>
        <p:nvSpPr>
          <p:cNvPr id="70" name="hit 315"/>
          <p:cNvSpPr/>
          <p:nvPr/>
        </p:nvSpPr>
        <p:spPr>
          <a:xfrm>
            <a:off x="7419442" y="4709160"/>
            <a:ext cx="3833165" cy="182880"/>
          </a:xfrm>
          <a:prstGeom prst="roundRect">
            <a:avLst>
              <a:gd name="adj" fmla="val 25000"/>
            </a:avLst>
          </a:prstGeom>
          <a:solidFill>
            <a:srgbClr val="0072B2">
              <a:alpha val="80000"/>
            </a:srgbClr>
          </a:solidFill>
          <a:ln w="12700">
            <a:solidFill>
              <a:srgbClr val="0072B2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7A"/>
                </a:solidFill>
              </a:rPr>
              <a:t>Right: a short, AT-rich satellite consensus can match inside a degraded TE copy. Without real tandem structure there, the TE call is kept.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P">
  <a:themeElements>
    <a:clrScheme name="CARP">
      <a:dk1>
        <a:srgbClr val="14304A"/>
      </a:dk1>
      <a:lt1>
        <a:srgbClr val="FFFFFF"/>
      </a:lt1>
      <a:dk2>
        <a:srgbClr val="5F6E7A"/>
      </a:dk2>
      <a:lt2>
        <a:srgbClr val="F4F6F8"/>
      </a:lt2>
      <a:accent1>
        <a:srgbClr val="0072B2"/>
      </a:accent1>
      <a:accent2>
        <a:srgbClr val="D55E00"/>
      </a:accent2>
      <a:accent3>
        <a:srgbClr val="009E73"/>
      </a:accent3>
      <a:accent4>
        <a:srgbClr val="8E7F6E"/>
      </a:accent4>
      <a:accent5>
        <a:srgbClr val="CC79A7"/>
      </a:accent5>
      <a:accent6>
        <a:srgbClr val="14304A"/>
      </a:accent6>
      <a:hlink>
        <a:srgbClr val="0072B2"/>
      </a:hlink>
      <a:folHlink>
        <a:srgbClr val="5F6E7A"/>
      </a:folHlink>
    </a:clrScheme>
    <a:fontScheme name="CAR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unified repeat annotation is built</dc:title>
  <dc:subject>PptxGenJS Presentation</dc:subject>
  <dc:creator>CARP</dc:creator>
  <cp:lastModifiedBy>CARP</cp:lastModifiedBy>
  <cp:revision>1</cp:revision>
  <dcterms:created xsi:type="dcterms:W3CDTF">2026-10-20T08:43:49Z</dcterms:created>
  <dcterms:modified xsi:type="dcterms:W3CDTF">2026-10-20T08:43:49Z</dcterms:modified>
</cp:coreProperties>
</file>